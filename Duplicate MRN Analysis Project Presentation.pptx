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Roboto Thin"/>
      <p:regular r:id="rId15"/>
      <p:bold r:id="rId16"/>
      <p:italic r:id="rId17"/>
      <p:boldItalic r:id="rId18"/>
    </p:embeddedFont>
    <p:embeddedFont>
      <p:font typeface="Roboto"/>
      <p:regular r:id="rId19"/>
      <p:bold r:id="rId20"/>
      <p:italic r:id="rId21"/>
      <p:boldItalic r:id="rId22"/>
    </p:embeddedFont>
    <p:embeddedFont>
      <p:font typeface="Public Sans"/>
      <p:regular r:id="rId23"/>
      <p:bold r:id="rId24"/>
      <p:italic r:id="rId25"/>
      <p:boldItalic r:id="rId26"/>
    </p:embeddedFont>
    <p:embeddedFont>
      <p:font typeface="Archivo Black"/>
      <p:regular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bold.fntdata"/><Relationship Id="rId22" Type="http://schemas.openxmlformats.org/officeDocument/2006/relationships/font" Target="fonts/Roboto-boldItalic.fntdata"/><Relationship Id="rId21" Type="http://schemas.openxmlformats.org/officeDocument/2006/relationships/font" Target="fonts/Roboto-italic.fntdata"/><Relationship Id="rId24" Type="http://schemas.openxmlformats.org/officeDocument/2006/relationships/font" Target="fonts/PublicSans-bold.fntdata"/><Relationship Id="rId23" Type="http://schemas.openxmlformats.org/officeDocument/2006/relationships/font" Target="fonts/PublicSans-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PublicSans-boldItalic.fntdata"/><Relationship Id="rId25" Type="http://schemas.openxmlformats.org/officeDocument/2006/relationships/font" Target="fonts/PublicSans-italic.fntdata"/><Relationship Id="rId27" Type="http://schemas.openxmlformats.org/officeDocument/2006/relationships/font" Target="fonts/ArchivoBlack-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font" Target="fonts/RobotoThin-regular.fntdata"/><Relationship Id="rId14" Type="http://schemas.openxmlformats.org/officeDocument/2006/relationships/slide" Target="slides/slide9.xml"/><Relationship Id="rId17" Type="http://schemas.openxmlformats.org/officeDocument/2006/relationships/font" Target="fonts/RobotoThin-italic.fntdata"/><Relationship Id="rId16" Type="http://schemas.openxmlformats.org/officeDocument/2006/relationships/font" Target="fonts/RobotoThin-bold.fntdata"/><Relationship Id="rId19" Type="http://schemas.openxmlformats.org/officeDocument/2006/relationships/font" Target="fonts/Roboto-regular.fntdata"/><Relationship Id="rId18" Type="http://schemas.openxmlformats.org/officeDocument/2006/relationships/font" Target="fonts/RobotoThin-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f4cc28c649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f4cc28c649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f4cc28c649_0_4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f4cc28c649_0_4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f4cc28c649_0_7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f4cc28c649_0_7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f4cc28c649_0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f4cc28c649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f4cc28c649_0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f4cc28c649_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f4cc28c649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f4cc28c649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f4cc28c649_0_23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f4cc28c649_0_2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f4cc28c649_0_28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f4cc28c649_0_28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D56A3"/>
            </a:gs>
            <a:gs pos="100000">
              <a:srgbClr val="1B3D6E"/>
            </a:gs>
          </a:gsLst>
          <a:path path="circle">
            <a:fillToRect b="50%" l="50%" r="50%" t="50%"/>
          </a:path>
          <a:tileRect/>
        </a:gradFill>
      </p:bgPr>
    </p:bg>
    <p:spTree>
      <p:nvGrpSpPr>
        <p:cNvPr id="53" name="Shape 53"/>
        <p:cNvGrpSpPr/>
        <p:nvPr/>
      </p:nvGrpSpPr>
      <p:grpSpPr>
        <a:xfrm>
          <a:off x="0" y="0"/>
          <a:ext cx="0" cy="0"/>
          <a:chOff x="0" y="0"/>
          <a:chExt cx="0" cy="0"/>
        </a:xfrm>
      </p:grpSpPr>
      <p:sp>
        <p:nvSpPr>
          <p:cNvPr id="54" name="Google Shape;54;p13"/>
          <p:cNvSpPr txBox="1"/>
          <p:nvPr/>
        </p:nvSpPr>
        <p:spPr>
          <a:xfrm>
            <a:off x="564000" y="1715125"/>
            <a:ext cx="8016000" cy="710400"/>
          </a:xfrm>
          <a:prstGeom prst="rect">
            <a:avLst/>
          </a:prstGeom>
          <a:no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en" sz="3500">
                <a:solidFill>
                  <a:srgbClr val="FFFFFF"/>
                </a:solidFill>
                <a:latin typeface="Archivo Black"/>
                <a:ea typeface="Archivo Black"/>
                <a:cs typeface="Archivo Black"/>
                <a:sym typeface="Archivo Black"/>
              </a:rPr>
              <a:t>Duplicate MRN Analysis Project</a:t>
            </a:r>
            <a:endParaRPr b="1" sz="3500">
              <a:solidFill>
                <a:srgbClr val="FFFFFF"/>
              </a:solidFill>
              <a:latin typeface="Archivo Black"/>
              <a:ea typeface="Archivo Black"/>
              <a:cs typeface="Archivo Black"/>
              <a:sym typeface="Archivo Black"/>
            </a:endParaRPr>
          </a:p>
        </p:txBody>
      </p:sp>
      <p:sp>
        <p:nvSpPr>
          <p:cNvPr id="55" name="Google Shape;55;p13"/>
          <p:cNvSpPr txBox="1"/>
          <p:nvPr/>
        </p:nvSpPr>
        <p:spPr>
          <a:xfrm>
            <a:off x="2411250" y="2659113"/>
            <a:ext cx="4321500" cy="415500"/>
          </a:xfrm>
          <a:prstGeom prst="rect">
            <a:avLst/>
          </a:prstGeom>
          <a:no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 sz="1500">
                <a:solidFill>
                  <a:srgbClr val="FFFFFF"/>
                </a:solidFill>
                <a:latin typeface="Public Sans"/>
                <a:ea typeface="Public Sans"/>
                <a:cs typeface="Public Sans"/>
                <a:sym typeface="Public Sans"/>
              </a:rPr>
              <a:t>Using Mockaroo, SQL, and Power BI to uncover the root causes of duplicate patient records </a:t>
            </a:r>
            <a:endParaRPr sz="1500">
              <a:solidFill>
                <a:srgbClr val="FFFFFF"/>
              </a:solidFill>
              <a:latin typeface="Public Sans"/>
              <a:ea typeface="Public Sans"/>
              <a:cs typeface="Public Sans"/>
              <a:sym typeface="Public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D56A3"/>
            </a:gs>
            <a:gs pos="100000">
              <a:srgbClr val="1B3D6E"/>
            </a:gs>
          </a:gsLst>
          <a:path path="circle">
            <a:fillToRect b="50%" l="50%" r="50%" t="50%"/>
          </a:path>
          <a:tileRect/>
        </a:gradFill>
      </p:bgPr>
    </p:bg>
    <p:spTree>
      <p:nvGrpSpPr>
        <p:cNvPr id="59" name="Shape 59"/>
        <p:cNvGrpSpPr/>
        <p:nvPr/>
      </p:nvGrpSpPr>
      <p:grpSpPr>
        <a:xfrm>
          <a:off x="0" y="0"/>
          <a:ext cx="0" cy="0"/>
          <a:chOff x="0" y="0"/>
          <a:chExt cx="0" cy="0"/>
        </a:xfrm>
      </p:grpSpPr>
      <p:sp>
        <p:nvSpPr>
          <p:cNvPr id="60" name="Google Shape;60;p14"/>
          <p:cNvSpPr txBox="1"/>
          <p:nvPr/>
        </p:nvSpPr>
        <p:spPr>
          <a:xfrm>
            <a:off x="2101188" y="816425"/>
            <a:ext cx="4941600" cy="415500"/>
          </a:xfrm>
          <a:prstGeom prst="rect">
            <a:avLst/>
          </a:prstGeom>
          <a:no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 sz="1600" u="sng">
                <a:solidFill>
                  <a:srgbClr val="FFFFFF"/>
                </a:solidFill>
                <a:latin typeface="Public Sans"/>
                <a:ea typeface="Public Sans"/>
                <a:cs typeface="Public Sans"/>
                <a:sym typeface="Public Sans"/>
              </a:rPr>
              <a:t>Understanding the Business Problem</a:t>
            </a:r>
            <a:endParaRPr sz="1600" u="sng">
              <a:solidFill>
                <a:srgbClr val="FFFFFF"/>
              </a:solidFill>
              <a:latin typeface="Public Sans"/>
              <a:ea typeface="Public Sans"/>
              <a:cs typeface="Public Sans"/>
              <a:sym typeface="Public Sans"/>
            </a:endParaRPr>
          </a:p>
        </p:txBody>
      </p:sp>
      <p:sp>
        <p:nvSpPr>
          <p:cNvPr id="61" name="Google Shape;61;p14"/>
          <p:cNvSpPr txBox="1"/>
          <p:nvPr/>
        </p:nvSpPr>
        <p:spPr>
          <a:xfrm>
            <a:off x="2411250" y="4734338"/>
            <a:ext cx="4321500" cy="338700"/>
          </a:xfrm>
          <a:prstGeom prst="rect">
            <a:avLst/>
          </a:prstGeom>
          <a:no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FFFFFF"/>
                </a:solidFill>
                <a:latin typeface="Public Sans"/>
                <a:ea typeface="Public Sans"/>
                <a:cs typeface="Public Sans"/>
                <a:sym typeface="Public Sans"/>
              </a:rPr>
              <a:t>Duplicate MRN Analysis Project • Ethan Dobbs </a:t>
            </a:r>
            <a:r>
              <a:rPr lang="en" sz="1000">
                <a:solidFill>
                  <a:schemeClr val="lt1"/>
                </a:solidFill>
                <a:latin typeface="Public Sans"/>
                <a:ea typeface="Public Sans"/>
                <a:cs typeface="Public Sans"/>
                <a:sym typeface="Public Sans"/>
              </a:rPr>
              <a:t>• 2026</a:t>
            </a:r>
            <a:endParaRPr sz="1000">
              <a:solidFill>
                <a:srgbClr val="FFFFFF"/>
              </a:solidFill>
              <a:latin typeface="Public Sans"/>
              <a:ea typeface="Public Sans"/>
              <a:cs typeface="Public Sans"/>
              <a:sym typeface="Public Sans"/>
            </a:endParaRPr>
          </a:p>
        </p:txBody>
      </p:sp>
      <p:grpSp>
        <p:nvGrpSpPr>
          <p:cNvPr id="62" name="Google Shape;62;p14"/>
          <p:cNvGrpSpPr/>
          <p:nvPr/>
        </p:nvGrpSpPr>
        <p:grpSpPr>
          <a:xfrm>
            <a:off x="985000" y="1392226"/>
            <a:ext cx="2072472" cy="3157172"/>
            <a:chOff x="1169810" y="283725"/>
            <a:chExt cx="2048100" cy="4076400"/>
          </a:xfrm>
        </p:grpSpPr>
        <p:sp>
          <p:nvSpPr>
            <p:cNvPr id="63" name="Google Shape;63;p14"/>
            <p:cNvSpPr/>
            <p:nvPr/>
          </p:nvSpPr>
          <p:spPr>
            <a:xfrm>
              <a:off x="1178650" y="283725"/>
              <a:ext cx="2030400" cy="4076400"/>
            </a:xfrm>
            <a:prstGeom prst="rect">
              <a:avLst/>
            </a:prstGeom>
            <a:solidFill>
              <a:srgbClr val="1B786F"/>
            </a:solidFill>
            <a:ln>
              <a:noFill/>
            </a:ln>
          </p:spPr>
          <p:txBody>
            <a:bodyPr anchorCtr="0" anchor="ctr" bIns="77775" lIns="77775" spcFirstLastPara="1" rIns="77775" wrap="square" tIns="77775">
              <a:noAutofit/>
            </a:bodyPr>
            <a:lstStyle/>
            <a:p>
              <a:pPr indent="0" lvl="0" marL="0" rtl="0" algn="l">
                <a:spcBef>
                  <a:spcPts val="0"/>
                </a:spcBef>
                <a:spcAft>
                  <a:spcPts val="0"/>
                </a:spcAft>
                <a:buNone/>
              </a:pPr>
              <a:r>
                <a:t/>
              </a:r>
              <a:endParaRPr/>
            </a:p>
          </p:txBody>
        </p:sp>
        <p:sp>
          <p:nvSpPr>
            <p:cNvPr id="64" name="Google Shape;64;p14"/>
            <p:cNvSpPr/>
            <p:nvPr/>
          </p:nvSpPr>
          <p:spPr>
            <a:xfrm>
              <a:off x="1169810" y="431202"/>
              <a:ext cx="2048100" cy="1687200"/>
            </a:xfrm>
            <a:prstGeom prst="rect">
              <a:avLst/>
            </a:prstGeom>
            <a:solidFill>
              <a:srgbClr val="FFFFFF"/>
            </a:solidFill>
            <a:ln cap="flat" cmpd="sng" w="16200">
              <a:solidFill>
                <a:srgbClr val="1D7E75"/>
              </a:solidFill>
              <a:prstDash val="solid"/>
              <a:round/>
              <a:headEnd len="sm" w="sm" type="none"/>
              <a:tailEnd len="sm" w="sm" type="none"/>
            </a:ln>
          </p:spPr>
          <p:txBody>
            <a:bodyPr anchorCtr="0" anchor="ctr" bIns="77775" lIns="77775" spcFirstLastPara="1" rIns="77775" wrap="square" tIns="77775">
              <a:noAutofit/>
            </a:bodyPr>
            <a:lstStyle/>
            <a:p>
              <a:pPr indent="0" lvl="0" marL="0" rtl="0" algn="l">
                <a:spcBef>
                  <a:spcPts val="0"/>
                </a:spcBef>
                <a:spcAft>
                  <a:spcPts val="0"/>
                </a:spcAft>
                <a:buNone/>
              </a:pPr>
              <a:r>
                <a:t/>
              </a:r>
              <a:endParaRPr/>
            </a:p>
          </p:txBody>
        </p:sp>
        <p:sp>
          <p:nvSpPr>
            <p:cNvPr id="65" name="Google Shape;65;p14"/>
            <p:cNvSpPr/>
            <p:nvPr/>
          </p:nvSpPr>
          <p:spPr>
            <a:xfrm>
              <a:off x="1233850" y="470600"/>
              <a:ext cx="1815000" cy="675000"/>
            </a:xfrm>
            <a:prstGeom prst="rect">
              <a:avLst/>
            </a:prstGeom>
            <a:noFill/>
            <a:ln>
              <a:noFill/>
            </a:ln>
          </p:spPr>
          <p:txBody>
            <a:bodyPr anchorCtr="0" anchor="t" bIns="77775" lIns="77775" spcFirstLastPara="1" rIns="77775" wrap="square" tIns="77775">
              <a:noAutofit/>
            </a:bodyPr>
            <a:lstStyle/>
            <a:p>
              <a:pPr indent="0" lvl="0" marL="0" rtl="0" algn="l">
                <a:spcBef>
                  <a:spcPts val="0"/>
                </a:spcBef>
                <a:spcAft>
                  <a:spcPts val="0"/>
                </a:spcAft>
                <a:buNone/>
              </a:pPr>
              <a:r>
                <a:rPr b="1" lang="en" sz="2603">
                  <a:solidFill>
                    <a:srgbClr val="1D7E75"/>
                  </a:solidFill>
                  <a:latin typeface="Roboto"/>
                  <a:ea typeface="Roboto"/>
                  <a:cs typeface="Roboto"/>
                  <a:sym typeface="Roboto"/>
                </a:rPr>
                <a:t>What is an MRN?</a:t>
              </a:r>
              <a:endParaRPr sz="2603">
                <a:solidFill>
                  <a:srgbClr val="1D7E75"/>
                </a:solidFill>
                <a:latin typeface="Roboto Thin"/>
                <a:ea typeface="Roboto Thin"/>
                <a:cs typeface="Roboto Thin"/>
                <a:sym typeface="Roboto Thin"/>
              </a:endParaRPr>
            </a:p>
          </p:txBody>
        </p:sp>
        <p:sp>
          <p:nvSpPr>
            <p:cNvPr id="66" name="Google Shape;66;p14"/>
            <p:cNvSpPr/>
            <p:nvPr/>
          </p:nvSpPr>
          <p:spPr>
            <a:xfrm rot="5400000">
              <a:off x="1973559" y="1968154"/>
              <a:ext cx="389100" cy="278100"/>
            </a:xfrm>
            <a:prstGeom prst="rightArrow">
              <a:avLst>
                <a:gd fmla="val 34239" name="adj1"/>
                <a:gd fmla="val 57035" name="adj2"/>
              </a:avLst>
            </a:prstGeom>
            <a:solidFill>
              <a:srgbClr val="FFFFFF"/>
            </a:solidFill>
            <a:ln>
              <a:noFill/>
            </a:ln>
          </p:spPr>
          <p:txBody>
            <a:bodyPr anchorCtr="0" anchor="ctr" bIns="77775" lIns="77775" spcFirstLastPara="1" rIns="77775" wrap="square" tIns="77775">
              <a:noAutofit/>
            </a:bodyPr>
            <a:lstStyle/>
            <a:p>
              <a:pPr indent="0" lvl="0" marL="0" rtl="0" algn="l">
                <a:spcBef>
                  <a:spcPts val="0"/>
                </a:spcBef>
                <a:spcAft>
                  <a:spcPts val="0"/>
                </a:spcAft>
                <a:buNone/>
              </a:pPr>
              <a:r>
                <a:t/>
              </a:r>
              <a:endParaRPr/>
            </a:p>
          </p:txBody>
        </p:sp>
        <p:sp>
          <p:nvSpPr>
            <p:cNvPr id="67" name="Google Shape;67;p14"/>
            <p:cNvSpPr/>
            <p:nvPr/>
          </p:nvSpPr>
          <p:spPr>
            <a:xfrm>
              <a:off x="1178667" y="2301772"/>
              <a:ext cx="2030400" cy="1943700"/>
            </a:xfrm>
            <a:prstGeom prst="rect">
              <a:avLst/>
            </a:prstGeom>
            <a:noFill/>
            <a:ln>
              <a:noFill/>
            </a:ln>
          </p:spPr>
          <p:txBody>
            <a:bodyPr anchorCtr="0" anchor="t" bIns="77775" lIns="77775" spcFirstLastPara="1" rIns="77775" wrap="square" tIns="77775">
              <a:noAutofit/>
            </a:bodyPr>
            <a:lstStyle/>
            <a:p>
              <a:pPr indent="0" lvl="0" marL="0" rtl="0" algn="l">
                <a:spcBef>
                  <a:spcPts val="0"/>
                </a:spcBef>
                <a:spcAft>
                  <a:spcPts val="0"/>
                </a:spcAft>
                <a:buClr>
                  <a:schemeClr val="dk1"/>
                </a:buClr>
                <a:buSzPts val="1100"/>
                <a:buFont typeface="Arial"/>
                <a:buNone/>
              </a:pPr>
              <a:r>
                <a:rPr lang="en" sz="900">
                  <a:solidFill>
                    <a:schemeClr val="lt1"/>
                  </a:solidFill>
                  <a:latin typeface="Public Sans"/>
                  <a:ea typeface="Public Sans"/>
                  <a:cs typeface="Public Sans"/>
                  <a:sym typeface="Public Sans"/>
                </a:rPr>
                <a:t>Duplicate Medical Record Numbers (MRNs) occur when a single patient is assigned multiple unique identifying numbers within a healthcare system, often due to data entry errors, name changes, or system mergers. These duplicates cause critical safety risks, including missed allergies, incorrect medications, and fragmented care histories.</a:t>
              </a:r>
              <a:endParaRPr sz="900">
                <a:solidFill>
                  <a:schemeClr val="lt1"/>
                </a:solidFill>
                <a:latin typeface="Public Sans"/>
                <a:ea typeface="Public Sans"/>
                <a:cs typeface="Public Sans"/>
                <a:sym typeface="Public Sans"/>
              </a:endParaRPr>
            </a:p>
            <a:p>
              <a:pPr indent="0" lvl="0" marL="0" rtl="0" algn="l">
                <a:lnSpc>
                  <a:spcPct val="115000"/>
                </a:lnSpc>
                <a:spcBef>
                  <a:spcPts val="0"/>
                </a:spcBef>
                <a:spcAft>
                  <a:spcPts val="0"/>
                </a:spcAft>
                <a:buNone/>
              </a:pPr>
              <a:r>
                <a:t/>
              </a:r>
              <a:endParaRPr sz="181">
                <a:solidFill>
                  <a:srgbClr val="FFFFFF"/>
                </a:solidFill>
                <a:latin typeface="Roboto"/>
                <a:ea typeface="Roboto"/>
                <a:cs typeface="Roboto"/>
                <a:sym typeface="Roboto"/>
              </a:endParaRPr>
            </a:p>
          </p:txBody>
        </p:sp>
      </p:grpSp>
      <p:grpSp>
        <p:nvGrpSpPr>
          <p:cNvPr id="68" name="Google Shape;68;p14"/>
          <p:cNvGrpSpPr/>
          <p:nvPr/>
        </p:nvGrpSpPr>
        <p:grpSpPr>
          <a:xfrm>
            <a:off x="3583737" y="1404551"/>
            <a:ext cx="2072472" cy="3157172"/>
            <a:chOff x="1169810" y="283725"/>
            <a:chExt cx="2048100" cy="4076400"/>
          </a:xfrm>
        </p:grpSpPr>
        <p:sp>
          <p:nvSpPr>
            <p:cNvPr id="69" name="Google Shape;69;p14"/>
            <p:cNvSpPr/>
            <p:nvPr/>
          </p:nvSpPr>
          <p:spPr>
            <a:xfrm>
              <a:off x="1178650" y="283725"/>
              <a:ext cx="2030400" cy="4076400"/>
            </a:xfrm>
            <a:prstGeom prst="rect">
              <a:avLst/>
            </a:prstGeom>
            <a:solidFill>
              <a:srgbClr val="1B786F"/>
            </a:solidFill>
            <a:ln>
              <a:noFill/>
            </a:ln>
          </p:spPr>
          <p:txBody>
            <a:bodyPr anchorCtr="0" anchor="ctr" bIns="77775" lIns="77775" spcFirstLastPara="1" rIns="77775" wrap="square" tIns="77775">
              <a:noAutofit/>
            </a:bodyPr>
            <a:lstStyle/>
            <a:p>
              <a:pPr indent="0" lvl="0" marL="0" rtl="0" algn="l">
                <a:spcBef>
                  <a:spcPts val="0"/>
                </a:spcBef>
                <a:spcAft>
                  <a:spcPts val="0"/>
                </a:spcAft>
                <a:buNone/>
              </a:pPr>
              <a:r>
                <a:t/>
              </a:r>
              <a:endParaRPr/>
            </a:p>
          </p:txBody>
        </p:sp>
        <p:sp>
          <p:nvSpPr>
            <p:cNvPr id="70" name="Google Shape;70;p14"/>
            <p:cNvSpPr/>
            <p:nvPr/>
          </p:nvSpPr>
          <p:spPr>
            <a:xfrm>
              <a:off x="1169810" y="431202"/>
              <a:ext cx="2048100" cy="1687200"/>
            </a:xfrm>
            <a:prstGeom prst="rect">
              <a:avLst/>
            </a:prstGeom>
            <a:solidFill>
              <a:srgbClr val="FFFFFF"/>
            </a:solidFill>
            <a:ln cap="flat" cmpd="sng" w="16200">
              <a:solidFill>
                <a:srgbClr val="1D7E75"/>
              </a:solidFill>
              <a:prstDash val="solid"/>
              <a:round/>
              <a:headEnd len="sm" w="sm" type="none"/>
              <a:tailEnd len="sm" w="sm" type="none"/>
            </a:ln>
          </p:spPr>
          <p:txBody>
            <a:bodyPr anchorCtr="0" anchor="ctr" bIns="77775" lIns="77775" spcFirstLastPara="1" rIns="77775" wrap="square" tIns="77775">
              <a:noAutofit/>
            </a:bodyPr>
            <a:lstStyle/>
            <a:p>
              <a:pPr indent="0" lvl="0" marL="0" rtl="0" algn="l">
                <a:spcBef>
                  <a:spcPts val="0"/>
                </a:spcBef>
                <a:spcAft>
                  <a:spcPts val="0"/>
                </a:spcAft>
                <a:buNone/>
              </a:pPr>
              <a:r>
                <a:t/>
              </a:r>
              <a:endParaRPr/>
            </a:p>
          </p:txBody>
        </p:sp>
        <p:sp>
          <p:nvSpPr>
            <p:cNvPr id="71" name="Google Shape;71;p14"/>
            <p:cNvSpPr/>
            <p:nvPr/>
          </p:nvSpPr>
          <p:spPr>
            <a:xfrm>
              <a:off x="1233850" y="470600"/>
              <a:ext cx="1815000" cy="675000"/>
            </a:xfrm>
            <a:prstGeom prst="rect">
              <a:avLst/>
            </a:prstGeom>
            <a:noFill/>
            <a:ln>
              <a:noFill/>
            </a:ln>
          </p:spPr>
          <p:txBody>
            <a:bodyPr anchorCtr="0" anchor="t" bIns="77775" lIns="77775" spcFirstLastPara="1" rIns="77775" wrap="square" tIns="77775">
              <a:noAutofit/>
            </a:bodyPr>
            <a:lstStyle/>
            <a:p>
              <a:pPr indent="0" lvl="0" marL="0" rtl="0" algn="l">
                <a:spcBef>
                  <a:spcPts val="0"/>
                </a:spcBef>
                <a:spcAft>
                  <a:spcPts val="0"/>
                </a:spcAft>
                <a:buNone/>
              </a:pPr>
              <a:r>
                <a:rPr b="1" lang="en" sz="2603">
                  <a:solidFill>
                    <a:srgbClr val="1D7E75"/>
                  </a:solidFill>
                  <a:latin typeface="Roboto"/>
                  <a:ea typeface="Roboto"/>
                  <a:cs typeface="Roboto"/>
                  <a:sym typeface="Roboto"/>
                </a:rPr>
                <a:t>Why is this important?</a:t>
              </a:r>
              <a:endParaRPr sz="2603">
                <a:solidFill>
                  <a:srgbClr val="1D7E75"/>
                </a:solidFill>
                <a:latin typeface="Roboto Thin"/>
                <a:ea typeface="Roboto Thin"/>
                <a:cs typeface="Roboto Thin"/>
                <a:sym typeface="Roboto Thin"/>
              </a:endParaRPr>
            </a:p>
          </p:txBody>
        </p:sp>
        <p:sp>
          <p:nvSpPr>
            <p:cNvPr id="72" name="Google Shape;72;p14"/>
            <p:cNvSpPr/>
            <p:nvPr/>
          </p:nvSpPr>
          <p:spPr>
            <a:xfrm rot="5400000">
              <a:off x="1973559" y="1968154"/>
              <a:ext cx="389100" cy="278100"/>
            </a:xfrm>
            <a:prstGeom prst="rightArrow">
              <a:avLst>
                <a:gd fmla="val 34239" name="adj1"/>
                <a:gd fmla="val 57035" name="adj2"/>
              </a:avLst>
            </a:prstGeom>
            <a:solidFill>
              <a:srgbClr val="FFFFFF"/>
            </a:solidFill>
            <a:ln>
              <a:noFill/>
            </a:ln>
          </p:spPr>
          <p:txBody>
            <a:bodyPr anchorCtr="0" anchor="ctr" bIns="77775" lIns="77775" spcFirstLastPara="1" rIns="77775" wrap="square" tIns="77775">
              <a:noAutofit/>
            </a:bodyPr>
            <a:lstStyle/>
            <a:p>
              <a:pPr indent="0" lvl="0" marL="0" rtl="0" algn="l">
                <a:spcBef>
                  <a:spcPts val="0"/>
                </a:spcBef>
                <a:spcAft>
                  <a:spcPts val="0"/>
                </a:spcAft>
                <a:buNone/>
              </a:pPr>
              <a:r>
                <a:t/>
              </a:r>
              <a:endParaRPr/>
            </a:p>
          </p:txBody>
        </p:sp>
        <p:sp>
          <p:nvSpPr>
            <p:cNvPr id="73" name="Google Shape;73;p14"/>
            <p:cNvSpPr/>
            <p:nvPr/>
          </p:nvSpPr>
          <p:spPr>
            <a:xfrm>
              <a:off x="1178654" y="2178434"/>
              <a:ext cx="2030400" cy="1943700"/>
            </a:xfrm>
            <a:prstGeom prst="rect">
              <a:avLst/>
            </a:prstGeom>
            <a:noFill/>
            <a:ln>
              <a:noFill/>
            </a:ln>
          </p:spPr>
          <p:txBody>
            <a:bodyPr anchorCtr="0" anchor="t" bIns="77775" lIns="0" spcFirstLastPara="1" rIns="0" wrap="square" tIns="77775">
              <a:noAutofit/>
            </a:bodyPr>
            <a:lstStyle/>
            <a:p>
              <a:pPr indent="-102870" lvl="0" marL="274320" rtl="0" algn="l">
                <a:lnSpc>
                  <a:spcPct val="115000"/>
                </a:lnSpc>
                <a:spcBef>
                  <a:spcPts val="0"/>
                </a:spcBef>
                <a:spcAft>
                  <a:spcPts val="0"/>
                </a:spcAft>
                <a:buClr>
                  <a:schemeClr val="lt1"/>
                </a:buClr>
                <a:buSzPts val="900"/>
                <a:buChar char="●"/>
              </a:pPr>
              <a:r>
                <a:rPr b="1" lang="en" sz="900">
                  <a:solidFill>
                    <a:schemeClr val="lt1"/>
                  </a:solidFill>
                </a:rPr>
                <a:t>Patient Safety:</a:t>
              </a:r>
              <a:r>
                <a:rPr lang="en" sz="900">
                  <a:solidFill>
                    <a:schemeClr val="lt1"/>
                  </a:solidFill>
                </a:rPr>
                <a:t> Inaccurate medical records can result in hidden or conflicting information</a:t>
              </a:r>
              <a:endParaRPr sz="900">
                <a:solidFill>
                  <a:schemeClr val="lt1"/>
                </a:solidFill>
              </a:endParaRPr>
            </a:p>
            <a:p>
              <a:pPr indent="-102870" lvl="0" marL="274320" rtl="0" algn="l">
                <a:lnSpc>
                  <a:spcPct val="115000"/>
                </a:lnSpc>
                <a:spcBef>
                  <a:spcPts val="0"/>
                </a:spcBef>
                <a:spcAft>
                  <a:spcPts val="0"/>
                </a:spcAft>
                <a:buClr>
                  <a:schemeClr val="lt1"/>
                </a:buClr>
                <a:buSzPts val="900"/>
                <a:buChar char="●"/>
              </a:pPr>
              <a:r>
                <a:rPr b="1" lang="en" sz="900">
                  <a:solidFill>
                    <a:schemeClr val="lt1"/>
                  </a:solidFill>
                </a:rPr>
                <a:t>Cost Impact:</a:t>
              </a:r>
              <a:r>
                <a:rPr lang="en" sz="900">
                  <a:solidFill>
                    <a:schemeClr val="lt1"/>
                  </a:solidFill>
                </a:rPr>
                <a:t> Redundant testing and billing errors</a:t>
              </a:r>
              <a:endParaRPr sz="900">
                <a:solidFill>
                  <a:schemeClr val="lt1"/>
                </a:solidFill>
              </a:endParaRPr>
            </a:p>
            <a:p>
              <a:pPr indent="-102870" lvl="0" marL="274320" rtl="0" algn="l">
                <a:lnSpc>
                  <a:spcPct val="115000"/>
                </a:lnSpc>
                <a:spcBef>
                  <a:spcPts val="0"/>
                </a:spcBef>
                <a:spcAft>
                  <a:spcPts val="0"/>
                </a:spcAft>
                <a:buClr>
                  <a:schemeClr val="lt1"/>
                </a:buClr>
                <a:buSzPts val="900"/>
                <a:buChar char="●"/>
              </a:pPr>
              <a:r>
                <a:rPr b="1" lang="en" sz="900">
                  <a:solidFill>
                    <a:schemeClr val="lt1"/>
                  </a:solidFill>
                </a:rPr>
                <a:t>Operational Drag:</a:t>
              </a:r>
              <a:r>
                <a:rPr lang="en" sz="900">
                  <a:solidFill>
                    <a:schemeClr val="lt1"/>
                  </a:solidFill>
                </a:rPr>
                <a:t> Staff spend significant time manually identifying and interpreting duplicate records instead of higher-value work</a:t>
              </a:r>
              <a:endParaRPr sz="900">
                <a:solidFill>
                  <a:schemeClr val="lt1"/>
                </a:solidFill>
              </a:endParaRPr>
            </a:p>
          </p:txBody>
        </p:sp>
      </p:grpSp>
      <p:grpSp>
        <p:nvGrpSpPr>
          <p:cNvPr id="74" name="Google Shape;74;p14"/>
          <p:cNvGrpSpPr/>
          <p:nvPr/>
        </p:nvGrpSpPr>
        <p:grpSpPr>
          <a:xfrm>
            <a:off x="6182462" y="1392226"/>
            <a:ext cx="2072472" cy="3157172"/>
            <a:chOff x="1169810" y="283725"/>
            <a:chExt cx="2048100" cy="4076400"/>
          </a:xfrm>
        </p:grpSpPr>
        <p:sp>
          <p:nvSpPr>
            <p:cNvPr id="75" name="Google Shape;75;p14"/>
            <p:cNvSpPr/>
            <p:nvPr/>
          </p:nvSpPr>
          <p:spPr>
            <a:xfrm>
              <a:off x="1178650" y="283725"/>
              <a:ext cx="2030400" cy="4076400"/>
            </a:xfrm>
            <a:prstGeom prst="rect">
              <a:avLst/>
            </a:prstGeom>
            <a:solidFill>
              <a:srgbClr val="1B786F"/>
            </a:solidFill>
            <a:ln>
              <a:noFill/>
            </a:ln>
          </p:spPr>
          <p:txBody>
            <a:bodyPr anchorCtr="0" anchor="ctr" bIns="77775" lIns="77775" spcFirstLastPara="1" rIns="77775" wrap="square" tIns="77775">
              <a:noAutofit/>
            </a:bodyPr>
            <a:lstStyle/>
            <a:p>
              <a:pPr indent="0" lvl="0" marL="0" rtl="0" algn="l">
                <a:spcBef>
                  <a:spcPts val="0"/>
                </a:spcBef>
                <a:spcAft>
                  <a:spcPts val="0"/>
                </a:spcAft>
                <a:buNone/>
              </a:pPr>
              <a:r>
                <a:t/>
              </a:r>
              <a:endParaRPr/>
            </a:p>
          </p:txBody>
        </p:sp>
        <p:sp>
          <p:nvSpPr>
            <p:cNvPr id="76" name="Google Shape;76;p14"/>
            <p:cNvSpPr/>
            <p:nvPr/>
          </p:nvSpPr>
          <p:spPr>
            <a:xfrm>
              <a:off x="1169810" y="431202"/>
              <a:ext cx="2048100" cy="1687200"/>
            </a:xfrm>
            <a:prstGeom prst="rect">
              <a:avLst/>
            </a:prstGeom>
            <a:solidFill>
              <a:srgbClr val="FFFFFF"/>
            </a:solidFill>
            <a:ln cap="flat" cmpd="sng" w="16200">
              <a:solidFill>
                <a:srgbClr val="1D7E75"/>
              </a:solidFill>
              <a:prstDash val="solid"/>
              <a:round/>
              <a:headEnd len="sm" w="sm" type="none"/>
              <a:tailEnd len="sm" w="sm" type="none"/>
            </a:ln>
          </p:spPr>
          <p:txBody>
            <a:bodyPr anchorCtr="0" anchor="ctr" bIns="77775" lIns="77775" spcFirstLastPara="1" rIns="77775" wrap="square" tIns="77775">
              <a:noAutofit/>
            </a:bodyPr>
            <a:lstStyle/>
            <a:p>
              <a:pPr indent="0" lvl="0" marL="0" rtl="0" algn="l">
                <a:spcBef>
                  <a:spcPts val="0"/>
                </a:spcBef>
                <a:spcAft>
                  <a:spcPts val="0"/>
                </a:spcAft>
                <a:buNone/>
              </a:pPr>
              <a:r>
                <a:t/>
              </a:r>
              <a:endParaRPr/>
            </a:p>
          </p:txBody>
        </p:sp>
        <p:sp>
          <p:nvSpPr>
            <p:cNvPr id="77" name="Google Shape;77;p14"/>
            <p:cNvSpPr/>
            <p:nvPr/>
          </p:nvSpPr>
          <p:spPr>
            <a:xfrm>
              <a:off x="1233850" y="470600"/>
              <a:ext cx="1815000" cy="675000"/>
            </a:xfrm>
            <a:prstGeom prst="rect">
              <a:avLst/>
            </a:prstGeom>
            <a:noFill/>
            <a:ln>
              <a:noFill/>
            </a:ln>
          </p:spPr>
          <p:txBody>
            <a:bodyPr anchorCtr="0" anchor="t" bIns="77775" lIns="77775" spcFirstLastPara="1" rIns="77775" wrap="square" tIns="77775">
              <a:noAutofit/>
            </a:bodyPr>
            <a:lstStyle/>
            <a:p>
              <a:pPr indent="0" lvl="0" marL="0" rtl="0" algn="l">
                <a:spcBef>
                  <a:spcPts val="0"/>
                </a:spcBef>
                <a:spcAft>
                  <a:spcPts val="0"/>
                </a:spcAft>
                <a:buNone/>
              </a:pPr>
              <a:r>
                <a:rPr b="1" lang="en" sz="2603">
                  <a:solidFill>
                    <a:srgbClr val="1D7E75"/>
                  </a:solidFill>
                  <a:latin typeface="Roboto"/>
                  <a:ea typeface="Roboto"/>
                  <a:cs typeface="Roboto"/>
                  <a:sym typeface="Roboto"/>
                </a:rPr>
                <a:t>What can be done about this?</a:t>
              </a:r>
              <a:endParaRPr sz="2603">
                <a:solidFill>
                  <a:srgbClr val="1D7E75"/>
                </a:solidFill>
                <a:latin typeface="Roboto Thin"/>
                <a:ea typeface="Roboto Thin"/>
                <a:cs typeface="Roboto Thin"/>
                <a:sym typeface="Roboto Thin"/>
              </a:endParaRPr>
            </a:p>
          </p:txBody>
        </p:sp>
        <p:sp>
          <p:nvSpPr>
            <p:cNvPr id="78" name="Google Shape;78;p14"/>
            <p:cNvSpPr/>
            <p:nvPr/>
          </p:nvSpPr>
          <p:spPr>
            <a:xfrm rot="5400000">
              <a:off x="1973559" y="1968154"/>
              <a:ext cx="389100" cy="278100"/>
            </a:xfrm>
            <a:prstGeom prst="rightArrow">
              <a:avLst>
                <a:gd fmla="val 34239" name="adj1"/>
                <a:gd fmla="val 57035" name="adj2"/>
              </a:avLst>
            </a:prstGeom>
            <a:solidFill>
              <a:srgbClr val="FFFFFF"/>
            </a:solidFill>
            <a:ln>
              <a:noFill/>
            </a:ln>
          </p:spPr>
          <p:txBody>
            <a:bodyPr anchorCtr="0" anchor="ctr" bIns="77775" lIns="77775" spcFirstLastPara="1" rIns="77775" wrap="square" tIns="77775">
              <a:noAutofit/>
            </a:bodyPr>
            <a:lstStyle/>
            <a:p>
              <a:pPr indent="0" lvl="0" marL="0" rtl="0" algn="l">
                <a:spcBef>
                  <a:spcPts val="0"/>
                </a:spcBef>
                <a:spcAft>
                  <a:spcPts val="0"/>
                </a:spcAft>
                <a:buNone/>
              </a:pPr>
              <a:r>
                <a:t/>
              </a:r>
              <a:endParaRPr/>
            </a:p>
          </p:txBody>
        </p:sp>
        <p:sp>
          <p:nvSpPr>
            <p:cNvPr id="79" name="Google Shape;79;p14"/>
            <p:cNvSpPr/>
            <p:nvPr/>
          </p:nvSpPr>
          <p:spPr>
            <a:xfrm>
              <a:off x="1178667" y="2301772"/>
              <a:ext cx="2030400" cy="1943700"/>
            </a:xfrm>
            <a:prstGeom prst="rect">
              <a:avLst/>
            </a:prstGeom>
            <a:noFill/>
            <a:ln>
              <a:noFill/>
            </a:ln>
          </p:spPr>
          <p:txBody>
            <a:bodyPr anchorCtr="0" anchor="t" bIns="77775" lIns="77775" spcFirstLastPara="1" rIns="77775" wrap="square" tIns="77775">
              <a:noAutofit/>
            </a:bodyPr>
            <a:lstStyle/>
            <a:p>
              <a:pPr indent="0" lvl="0" marL="0" rtl="0" algn="l">
                <a:spcBef>
                  <a:spcPts val="0"/>
                </a:spcBef>
                <a:spcAft>
                  <a:spcPts val="0"/>
                </a:spcAft>
                <a:buNone/>
              </a:pPr>
              <a:r>
                <a:rPr lang="en" sz="1000">
                  <a:solidFill>
                    <a:schemeClr val="lt1"/>
                  </a:solidFill>
                  <a:latin typeface="Public Sans"/>
                  <a:ea typeface="Public Sans"/>
                  <a:cs typeface="Public Sans"/>
                  <a:sym typeface="Public Sans"/>
                </a:rPr>
                <a:t>Data analysts can create visuals with collected data to reveal and analyze trends which can help with identifying the lead causes. These visuals can be created with platforms such as Power BI or Tableau, which can aid management in making informed business decisions.</a:t>
              </a:r>
              <a:endParaRPr sz="1000">
                <a:solidFill>
                  <a:schemeClr val="lt1"/>
                </a:solidFill>
                <a:latin typeface="Public Sans"/>
                <a:ea typeface="Public Sans"/>
                <a:cs typeface="Public Sans"/>
                <a:sym typeface="Public Sans"/>
              </a:endParaRPr>
            </a:p>
            <a:p>
              <a:pPr indent="0" lvl="0" marL="0" rtl="0" algn="l">
                <a:lnSpc>
                  <a:spcPct val="115000"/>
                </a:lnSpc>
                <a:spcBef>
                  <a:spcPts val="0"/>
                </a:spcBef>
                <a:spcAft>
                  <a:spcPts val="0"/>
                </a:spcAft>
                <a:buNone/>
              </a:pPr>
              <a:r>
                <a:t/>
              </a:r>
              <a:endParaRPr sz="181">
                <a:solidFill>
                  <a:srgbClr val="FFFFFF"/>
                </a:solidFill>
                <a:latin typeface="Roboto"/>
                <a:ea typeface="Roboto"/>
                <a:cs typeface="Roboto"/>
                <a:sym typeface="Roboto"/>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D56A3"/>
            </a:gs>
            <a:gs pos="100000">
              <a:srgbClr val="1B3D6E"/>
            </a:gs>
          </a:gsLst>
          <a:path path="circle">
            <a:fillToRect b="50%" l="50%" r="50%" t="50%"/>
          </a:path>
          <a:tileRect/>
        </a:gradFill>
      </p:bgPr>
    </p:bg>
    <p:spTree>
      <p:nvGrpSpPr>
        <p:cNvPr id="83" name="Shape 83"/>
        <p:cNvGrpSpPr/>
        <p:nvPr/>
      </p:nvGrpSpPr>
      <p:grpSpPr>
        <a:xfrm>
          <a:off x="0" y="0"/>
          <a:ext cx="0" cy="0"/>
          <a:chOff x="0" y="0"/>
          <a:chExt cx="0" cy="0"/>
        </a:xfrm>
      </p:grpSpPr>
      <p:sp>
        <p:nvSpPr>
          <p:cNvPr id="84" name="Google Shape;84;p15"/>
          <p:cNvSpPr txBox="1"/>
          <p:nvPr/>
        </p:nvSpPr>
        <p:spPr>
          <a:xfrm>
            <a:off x="2101188" y="816425"/>
            <a:ext cx="4941600" cy="415500"/>
          </a:xfrm>
          <a:prstGeom prst="rect">
            <a:avLst/>
          </a:prstGeom>
          <a:no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 sz="1600" u="sng">
                <a:solidFill>
                  <a:srgbClr val="FFFFFF"/>
                </a:solidFill>
                <a:latin typeface="Public Sans"/>
                <a:ea typeface="Public Sans"/>
                <a:cs typeface="Public Sans"/>
                <a:sym typeface="Public Sans"/>
              </a:rPr>
              <a:t>Project Objectives</a:t>
            </a:r>
            <a:endParaRPr sz="1600" u="sng">
              <a:solidFill>
                <a:srgbClr val="FFFFFF"/>
              </a:solidFill>
              <a:latin typeface="Public Sans"/>
              <a:ea typeface="Public Sans"/>
              <a:cs typeface="Public Sans"/>
              <a:sym typeface="Public Sans"/>
            </a:endParaRPr>
          </a:p>
        </p:txBody>
      </p:sp>
      <p:sp>
        <p:nvSpPr>
          <p:cNvPr id="85" name="Google Shape;85;p15"/>
          <p:cNvSpPr txBox="1"/>
          <p:nvPr/>
        </p:nvSpPr>
        <p:spPr>
          <a:xfrm>
            <a:off x="2411250" y="4734338"/>
            <a:ext cx="4321500" cy="338700"/>
          </a:xfrm>
          <a:prstGeom prst="rect">
            <a:avLst/>
          </a:prstGeom>
          <a:no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FFFFFF"/>
                </a:solidFill>
                <a:latin typeface="Public Sans"/>
                <a:ea typeface="Public Sans"/>
                <a:cs typeface="Public Sans"/>
                <a:sym typeface="Public Sans"/>
              </a:rPr>
              <a:t>Duplicate MRN Analysis Project • Ethan Dobbs </a:t>
            </a:r>
            <a:r>
              <a:rPr lang="en" sz="1000">
                <a:solidFill>
                  <a:schemeClr val="lt1"/>
                </a:solidFill>
                <a:latin typeface="Public Sans"/>
                <a:ea typeface="Public Sans"/>
                <a:cs typeface="Public Sans"/>
                <a:sym typeface="Public Sans"/>
              </a:rPr>
              <a:t>• 2026</a:t>
            </a:r>
            <a:endParaRPr sz="1000">
              <a:solidFill>
                <a:srgbClr val="FFFFFF"/>
              </a:solidFill>
              <a:latin typeface="Public Sans"/>
              <a:ea typeface="Public Sans"/>
              <a:cs typeface="Public Sans"/>
              <a:sym typeface="Public Sans"/>
            </a:endParaRPr>
          </a:p>
        </p:txBody>
      </p:sp>
      <p:grpSp>
        <p:nvGrpSpPr>
          <p:cNvPr id="86" name="Google Shape;86;p15"/>
          <p:cNvGrpSpPr/>
          <p:nvPr/>
        </p:nvGrpSpPr>
        <p:grpSpPr>
          <a:xfrm>
            <a:off x="1961110" y="1535464"/>
            <a:ext cx="5221800" cy="731700"/>
            <a:chOff x="2789785" y="1323164"/>
            <a:chExt cx="5221800" cy="731700"/>
          </a:xfrm>
        </p:grpSpPr>
        <p:sp>
          <p:nvSpPr>
            <p:cNvPr id="87" name="Google Shape;87;p15"/>
            <p:cNvSpPr/>
            <p:nvPr/>
          </p:nvSpPr>
          <p:spPr>
            <a:xfrm>
              <a:off x="2789785" y="1323164"/>
              <a:ext cx="5221800" cy="731700"/>
            </a:xfrm>
            <a:prstGeom prst="rect">
              <a:avLst/>
            </a:prstGeom>
            <a:solidFill>
              <a:srgbClr val="1D7E75"/>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88" name="Google Shape;88;p15"/>
            <p:cNvSpPr txBox="1"/>
            <p:nvPr/>
          </p:nvSpPr>
          <p:spPr>
            <a:xfrm>
              <a:off x="2914389" y="1407440"/>
              <a:ext cx="4765800" cy="575400"/>
            </a:xfrm>
            <a:prstGeom prst="rect">
              <a:avLst/>
            </a:prstGeom>
            <a:solidFill>
              <a:srgbClr val="1D7E75"/>
            </a:solidFill>
            <a:ln>
              <a:noFill/>
            </a:ln>
          </p:spPr>
          <p:txBody>
            <a:bodyPr anchorCtr="0" anchor="ctr" bIns="45700" lIns="91425" spcFirstLastPara="1" rIns="91425" wrap="square" tIns="45700">
              <a:noAutofit/>
            </a:bodyPr>
            <a:lstStyle/>
            <a:p>
              <a:pPr indent="0" lvl="0" marL="0" rtl="0" algn="l">
                <a:lnSpc>
                  <a:spcPct val="115000"/>
                </a:lnSpc>
                <a:spcBef>
                  <a:spcPts val="0"/>
                </a:spcBef>
                <a:spcAft>
                  <a:spcPts val="0"/>
                </a:spcAft>
                <a:buNone/>
              </a:pPr>
              <a:r>
                <a:rPr lang="en" sz="1500">
                  <a:solidFill>
                    <a:srgbClr val="FFFFFF"/>
                  </a:solidFill>
                  <a:latin typeface="Roboto"/>
                  <a:ea typeface="Roboto"/>
                  <a:cs typeface="Roboto"/>
                  <a:sym typeface="Roboto"/>
                </a:rPr>
                <a:t>Which facilities and service lines generate the most </a:t>
              </a:r>
              <a:r>
                <a:rPr lang="en" sz="1500">
                  <a:solidFill>
                    <a:srgbClr val="FFFFFF"/>
                  </a:solidFill>
                  <a:latin typeface="Roboto"/>
                  <a:ea typeface="Roboto"/>
                  <a:cs typeface="Roboto"/>
                  <a:sym typeface="Roboto"/>
                </a:rPr>
                <a:t>duplicate</a:t>
              </a:r>
              <a:r>
                <a:rPr lang="en" sz="1500">
                  <a:solidFill>
                    <a:srgbClr val="FFFFFF"/>
                  </a:solidFill>
                  <a:latin typeface="Roboto"/>
                  <a:ea typeface="Roboto"/>
                  <a:cs typeface="Roboto"/>
                  <a:sym typeface="Roboto"/>
                </a:rPr>
                <a:t> MRNs?</a:t>
              </a:r>
              <a:endParaRPr sz="1500">
                <a:solidFill>
                  <a:srgbClr val="FFFFFF"/>
                </a:solidFill>
                <a:latin typeface="Roboto"/>
                <a:ea typeface="Roboto"/>
                <a:cs typeface="Roboto"/>
                <a:sym typeface="Roboto"/>
              </a:endParaRPr>
            </a:p>
          </p:txBody>
        </p:sp>
      </p:grpSp>
      <p:grpSp>
        <p:nvGrpSpPr>
          <p:cNvPr id="89" name="Google Shape;89;p15"/>
          <p:cNvGrpSpPr/>
          <p:nvPr/>
        </p:nvGrpSpPr>
        <p:grpSpPr>
          <a:xfrm>
            <a:off x="1961112" y="2419825"/>
            <a:ext cx="4860300" cy="731700"/>
            <a:chOff x="2789787" y="2207525"/>
            <a:chExt cx="4860300" cy="731700"/>
          </a:xfrm>
        </p:grpSpPr>
        <p:sp>
          <p:nvSpPr>
            <p:cNvPr id="90" name="Google Shape;90;p15"/>
            <p:cNvSpPr/>
            <p:nvPr/>
          </p:nvSpPr>
          <p:spPr>
            <a:xfrm>
              <a:off x="2789787" y="2207525"/>
              <a:ext cx="4860300" cy="731700"/>
            </a:xfrm>
            <a:prstGeom prst="rect">
              <a:avLst/>
            </a:prstGeom>
            <a:solidFill>
              <a:srgbClr val="1D7E75"/>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91" name="Google Shape;91;p15"/>
            <p:cNvSpPr txBox="1"/>
            <p:nvPr/>
          </p:nvSpPr>
          <p:spPr>
            <a:xfrm>
              <a:off x="2914387" y="2414096"/>
              <a:ext cx="4373100" cy="330600"/>
            </a:xfrm>
            <a:prstGeom prst="rect">
              <a:avLst/>
            </a:prstGeom>
            <a:solidFill>
              <a:srgbClr val="1D7E75"/>
            </a:solidFill>
            <a:ln>
              <a:noFill/>
            </a:ln>
          </p:spPr>
          <p:txBody>
            <a:bodyPr anchorCtr="0" anchor="ctr" bIns="45700" lIns="91425" spcFirstLastPara="1" rIns="91425" wrap="square" tIns="45700">
              <a:noAutofit/>
            </a:bodyPr>
            <a:lstStyle/>
            <a:p>
              <a:pPr indent="0" lvl="0" marL="0" rtl="0" algn="l">
                <a:lnSpc>
                  <a:spcPct val="115000"/>
                </a:lnSpc>
                <a:spcBef>
                  <a:spcPts val="0"/>
                </a:spcBef>
                <a:spcAft>
                  <a:spcPts val="0"/>
                </a:spcAft>
                <a:buNone/>
              </a:pPr>
              <a:r>
                <a:rPr lang="en" sz="1500">
                  <a:solidFill>
                    <a:srgbClr val="FFFFFF"/>
                  </a:solidFill>
                  <a:latin typeface="Roboto"/>
                  <a:ea typeface="Roboto"/>
                  <a:cs typeface="Roboto"/>
                  <a:sym typeface="Roboto"/>
                </a:rPr>
                <a:t>Which patient </a:t>
              </a:r>
              <a:r>
                <a:rPr lang="en" sz="1500">
                  <a:solidFill>
                    <a:srgbClr val="FFFFFF"/>
                  </a:solidFill>
                  <a:latin typeface="Roboto"/>
                  <a:ea typeface="Roboto"/>
                  <a:cs typeface="Roboto"/>
                  <a:sym typeface="Roboto"/>
                </a:rPr>
                <a:t>demographics</a:t>
              </a:r>
              <a:r>
                <a:rPr lang="en" sz="1500">
                  <a:solidFill>
                    <a:srgbClr val="FFFFFF"/>
                  </a:solidFill>
                  <a:latin typeface="Roboto"/>
                  <a:ea typeface="Roboto"/>
                  <a:cs typeface="Roboto"/>
                  <a:sym typeface="Roboto"/>
                </a:rPr>
                <a:t> are most affected?</a:t>
              </a:r>
              <a:endParaRPr sz="1500">
                <a:solidFill>
                  <a:srgbClr val="FFFFFF"/>
                </a:solidFill>
                <a:latin typeface="Roboto"/>
                <a:ea typeface="Roboto"/>
                <a:cs typeface="Roboto"/>
                <a:sym typeface="Roboto"/>
              </a:endParaRPr>
            </a:p>
          </p:txBody>
        </p:sp>
      </p:grpSp>
      <p:grpSp>
        <p:nvGrpSpPr>
          <p:cNvPr id="92" name="Google Shape;92;p15"/>
          <p:cNvGrpSpPr/>
          <p:nvPr/>
        </p:nvGrpSpPr>
        <p:grpSpPr>
          <a:xfrm>
            <a:off x="1961112" y="3300925"/>
            <a:ext cx="4497600" cy="731700"/>
            <a:chOff x="2789787" y="3088625"/>
            <a:chExt cx="4497600" cy="731700"/>
          </a:xfrm>
        </p:grpSpPr>
        <p:sp>
          <p:nvSpPr>
            <p:cNvPr id="93" name="Google Shape;93;p15"/>
            <p:cNvSpPr/>
            <p:nvPr/>
          </p:nvSpPr>
          <p:spPr>
            <a:xfrm>
              <a:off x="2789787" y="3088625"/>
              <a:ext cx="4497600" cy="731700"/>
            </a:xfrm>
            <a:prstGeom prst="rect">
              <a:avLst/>
            </a:prstGeom>
            <a:solidFill>
              <a:srgbClr val="1D7E75"/>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94" name="Google Shape;94;p15"/>
            <p:cNvSpPr txBox="1"/>
            <p:nvPr/>
          </p:nvSpPr>
          <p:spPr>
            <a:xfrm>
              <a:off x="2914388" y="3295180"/>
              <a:ext cx="3849900" cy="330600"/>
            </a:xfrm>
            <a:prstGeom prst="rect">
              <a:avLst/>
            </a:prstGeom>
            <a:solidFill>
              <a:srgbClr val="1D7E75"/>
            </a:solidFill>
            <a:ln>
              <a:noFill/>
            </a:ln>
          </p:spPr>
          <p:txBody>
            <a:bodyPr anchorCtr="0" anchor="ctr" bIns="45700" lIns="91425" spcFirstLastPara="1" rIns="91425" wrap="square" tIns="45700">
              <a:noAutofit/>
            </a:bodyPr>
            <a:lstStyle/>
            <a:p>
              <a:pPr indent="0" lvl="0" marL="0" rtl="0" algn="l">
                <a:lnSpc>
                  <a:spcPct val="115000"/>
                </a:lnSpc>
                <a:spcBef>
                  <a:spcPts val="0"/>
                </a:spcBef>
                <a:spcAft>
                  <a:spcPts val="0"/>
                </a:spcAft>
                <a:buNone/>
              </a:pPr>
              <a:r>
                <a:rPr lang="en" sz="1500">
                  <a:solidFill>
                    <a:srgbClr val="FFFFFF"/>
                  </a:solidFill>
                  <a:latin typeface="Roboto"/>
                  <a:ea typeface="Roboto"/>
                  <a:cs typeface="Roboto"/>
                  <a:sym typeface="Roboto"/>
                </a:rPr>
                <a:t>What are the root causes driving duplication?</a:t>
              </a:r>
              <a:endParaRPr sz="1500">
                <a:solidFill>
                  <a:srgbClr val="FFFFFF"/>
                </a:solidFill>
                <a:latin typeface="Roboto"/>
                <a:ea typeface="Roboto"/>
                <a:cs typeface="Roboto"/>
                <a:sym typeface="Roboto"/>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D56A3"/>
            </a:gs>
            <a:gs pos="100000">
              <a:srgbClr val="1B3D6E"/>
            </a:gs>
          </a:gsLst>
          <a:path path="circle">
            <a:fillToRect b="50%" l="50%" r="50%" t="50%"/>
          </a:path>
          <a:tileRect/>
        </a:gradFill>
      </p:bgPr>
    </p:bg>
    <p:spTree>
      <p:nvGrpSpPr>
        <p:cNvPr id="98" name="Shape 98"/>
        <p:cNvGrpSpPr/>
        <p:nvPr/>
      </p:nvGrpSpPr>
      <p:grpSpPr>
        <a:xfrm>
          <a:off x="0" y="0"/>
          <a:ext cx="0" cy="0"/>
          <a:chOff x="0" y="0"/>
          <a:chExt cx="0" cy="0"/>
        </a:xfrm>
      </p:grpSpPr>
      <p:sp>
        <p:nvSpPr>
          <p:cNvPr id="99" name="Google Shape;99;p16"/>
          <p:cNvSpPr txBox="1"/>
          <p:nvPr/>
        </p:nvSpPr>
        <p:spPr>
          <a:xfrm>
            <a:off x="2101188" y="816425"/>
            <a:ext cx="4941600" cy="415500"/>
          </a:xfrm>
          <a:prstGeom prst="rect">
            <a:avLst/>
          </a:prstGeom>
          <a:no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 sz="1600" u="sng">
                <a:solidFill>
                  <a:srgbClr val="FFFFFF"/>
                </a:solidFill>
                <a:latin typeface="Public Sans"/>
                <a:ea typeface="Public Sans"/>
                <a:cs typeface="Public Sans"/>
                <a:sym typeface="Public Sans"/>
              </a:rPr>
              <a:t>Workflow</a:t>
            </a:r>
            <a:endParaRPr sz="1600" u="sng">
              <a:solidFill>
                <a:srgbClr val="FFFFFF"/>
              </a:solidFill>
              <a:latin typeface="Public Sans"/>
              <a:ea typeface="Public Sans"/>
              <a:cs typeface="Public Sans"/>
              <a:sym typeface="Public Sans"/>
            </a:endParaRPr>
          </a:p>
        </p:txBody>
      </p:sp>
      <p:sp>
        <p:nvSpPr>
          <p:cNvPr id="100" name="Google Shape;100;p16"/>
          <p:cNvSpPr txBox="1"/>
          <p:nvPr/>
        </p:nvSpPr>
        <p:spPr>
          <a:xfrm>
            <a:off x="2411250" y="4734338"/>
            <a:ext cx="4321500" cy="338700"/>
          </a:xfrm>
          <a:prstGeom prst="rect">
            <a:avLst/>
          </a:prstGeom>
          <a:no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FFFFFF"/>
                </a:solidFill>
                <a:latin typeface="Public Sans"/>
                <a:ea typeface="Public Sans"/>
                <a:cs typeface="Public Sans"/>
                <a:sym typeface="Public Sans"/>
              </a:rPr>
              <a:t>Duplicate MRN Analysis Project • Ethan Dobbs </a:t>
            </a:r>
            <a:r>
              <a:rPr lang="en" sz="1000">
                <a:solidFill>
                  <a:schemeClr val="lt1"/>
                </a:solidFill>
                <a:latin typeface="Public Sans"/>
                <a:ea typeface="Public Sans"/>
                <a:cs typeface="Public Sans"/>
                <a:sym typeface="Public Sans"/>
              </a:rPr>
              <a:t>• 2026</a:t>
            </a:r>
            <a:endParaRPr sz="1000">
              <a:solidFill>
                <a:srgbClr val="FFFFFF"/>
              </a:solidFill>
              <a:latin typeface="Public Sans"/>
              <a:ea typeface="Public Sans"/>
              <a:cs typeface="Public Sans"/>
              <a:sym typeface="Public Sans"/>
            </a:endParaRPr>
          </a:p>
        </p:txBody>
      </p:sp>
      <p:grpSp>
        <p:nvGrpSpPr>
          <p:cNvPr id="101" name="Google Shape;101;p16"/>
          <p:cNvGrpSpPr/>
          <p:nvPr/>
        </p:nvGrpSpPr>
        <p:grpSpPr>
          <a:xfrm>
            <a:off x="851200" y="1231925"/>
            <a:ext cx="1781700" cy="1981840"/>
            <a:chOff x="851200" y="1231925"/>
            <a:chExt cx="1781700" cy="1981840"/>
          </a:xfrm>
        </p:grpSpPr>
        <p:sp>
          <p:nvSpPr>
            <p:cNvPr id="102" name="Google Shape;102;p16"/>
            <p:cNvSpPr/>
            <p:nvPr/>
          </p:nvSpPr>
          <p:spPr>
            <a:xfrm>
              <a:off x="902781" y="3080265"/>
              <a:ext cx="1534500" cy="133500"/>
            </a:xfrm>
            <a:prstGeom prst="rect">
              <a:avLst/>
            </a:prstGeom>
            <a:solidFill>
              <a:srgbClr val="0E945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3" name="Google Shape;103;p16"/>
            <p:cNvGrpSpPr/>
            <p:nvPr/>
          </p:nvGrpSpPr>
          <p:grpSpPr>
            <a:xfrm>
              <a:off x="851208" y="2800855"/>
              <a:ext cx="92400" cy="411825"/>
              <a:chOff x="845575" y="2563700"/>
              <a:chExt cx="92400" cy="411825"/>
            </a:xfrm>
          </p:grpSpPr>
          <p:cxnSp>
            <p:nvCxnSpPr>
              <p:cNvPr id="104" name="Google Shape;104;p16"/>
              <p:cNvCxnSpPr/>
              <p:nvPr/>
            </p:nvCxnSpPr>
            <p:spPr>
              <a:xfrm>
                <a:off x="891775" y="2616125"/>
                <a:ext cx="0" cy="359400"/>
              </a:xfrm>
              <a:prstGeom prst="straightConnector1">
                <a:avLst/>
              </a:prstGeom>
              <a:noFill/>
              <a:ln cap="flat" cmpd="sng" w="9525">
                <a:solidFill>
                  <a:srgbClr val="000000"/>
                </a:solidFill>
                <a:prstDash val="solid"/>
                <a:round/>
                <a:headEnd len="sm" w="sm" type="none"/>
                <a:tailEnd len="sm" w="sm" type="none"/>
              </a:ln>
            </p:spPr>
          </p:cxnSp>
          <p:sp>
            <p:nvSpPr>
              <p:cNvPr id="105" name="Google Shape;105;p16"/>
              <p:cNvSpPr/>
              <p:nvPr/>
            </p:nvSpPr>
            <p:spPr>
              <a:xfrm>
                <a:off x="845575" y="2563700"/>
                <a:ext cx="92400" cy="92400"/>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6" name="Google Shape;106;p16"/>
            <p:cNvSpPr txBox="1"/>
            <p:nvPr/>
          </p:nvSpPr>
          <p:spPr>
            <a:xfrm>
              <a:off x="851200" y="1231925"/>
              <a:ext cx="1781700" cy="151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800">
                  <a:solidFill>
                    <a:schemeClr val="lt1"/>
                  </a:solidFill>
                  <a:latin typeface="Public Sans"/>
                  <a:ea typeface="Public Sans"/>
                  <a:cs typeface="Public Sans"/>
                  <a:sym typeface="Public Sans"/>
                </a:rPr>
                <a:t>Generate synthetic data</a:t>
              </a:r>
              <a:endParaRPr b="1" sz="800">
                <a:solidFill>
                  <a:schemeClr val="lt1"/>
                </a:solidFill>
                <a:latin typeface="Public Sans"/>
                <a:ea typeface="Public Sans"/>
                <a:cs typeface="Public Sans"/>
                <a:sym typeface="Public Sans"/>
              </a:endParaRPr>
            </a:p>
            <a:p>
              <a:pPr indent="0" lvl="0" marL="0" rtl="0" algn="l">
                <a:spcBef>
                  <a:spcPts val="0"/>
                </a:spcBef>
                <a:spcAft>
                  <a:spcPts val="0"/>
                </a:spcAft>
                <a:buNone/>
              </a:pPr>
              <a:r>
                <a:t/>
              </a:r>
              <a:endParaRPr b="1" sz="800">
                <a:solidFill>
                  <a:schemeClr val="lt1"/>
                </a:solidFill>
                <a:latin typeface="Public Sans"/>
                <a:ea typeface="Public Sans"/>
                <a:cs typeface="Public Sans"/>
                <a:sym typeface="Public Sans"/>
              </a:endParaRPr>
            </a:p>
            <a:p>
              <a:pPr indent="0" lvl="0" marL="0" rtl="0" algn="l">
                <a:spcBef>
                  <a:spcPts val="0"/>
                </a:spcBef>
                <a:spcAft>
                  <a:spcPts val="1600"/>
                </a:spcAft>
                <a:buNone/>
              </a:pPr>
              <a:r>
                <a:rPr lang="en" sz="800">
                  <a:solidFill>
                    <a:schemeClr val="lt1"/>
                  </a:solidFill>
                  <a:latin typeface="Public Sans"/>
                  <a:ea typeface="Public Sans"/>
                  <a:cs typeface="Public Sans"/>
                  <a:sym typeface="Public Sans"/>
                </a:rPr>
                <a:t>10,000 rows across 19 columns of data were synthetically generated to simulate a realistic Centralized Healthcare Database (CHD), </a:t>
              </a:r>
              <a:r>
                <a:rPr lang="en" sz="800">
                  <a:solidFill>
                    <a:schemeClr val="lt1"/>
                  </a:solidFill>
                  <a:latin typeface="Public Sans"/>
                  <a:ea typeface="Public Sans"/>
                  <a:cs typeface="Public Sans"/>
                  <a:sym typeface="Public Sans"/>
                </a:rPr>
                <a:t>using</a:t>
              </a:r>
              <a:r>
                <a:rPr lang="en" sz="800">
                  <a:solidFill>
                    <a:schemeClr val="lt1"/>
                  </a:solidFill>
                  <a:latin typeface="Public Sans"/>
                  <a:ea typeface="Public Sans"/>
                  <a:cs typeface="Public Sans"/>
                  <a:sym typeface="Public Sans"/>
                </a:rPr>
                <a:t> Mockaroo. Constraints </a:t>
              </a:r>
              <a:r>
                <a:rPr lang="en" sz="800">
                  <a:solidFill>
                    <a:schemeClr val="lt1"/>
                  </a:solidFill>
                  <a:latin typeface="Public Sans"/>
                  <a:ea typeface="Public Sans"/>
                  <a:cs typeface="Public Sans"/>
                  <a:sym typeface="Public Sans"/>
                </a:rPr>
                <a:t>written in Ruby </a:t>
              </a:r>
              <a:r>
                <a:rPr lang="en" sz="800">
                  <a:solidFill>
                    <a:schemeClr val="lt1"/>
                  </a:solidFill>
                  <a:latin typeface="Public Sans"/>
                  <a:ea typeface="Public Sans"/>
                  <a:cs typeface="Public Sans"/>
                  <a:sym typeface="Public Sans"/>
                </a:rPr>
                <a:t>were added to provide realistic data, such as skewing over 60% of patients in the “Senior” age group.</a:t>
              </a:r>
              <a:endParaRPr b="1" sz="800">
                <a:solidFill>
                  <a:schemeClr val="lt1"/>
                </a:solidFill>
                <a:latin typeface="Public Sans"/>
                <a:ea typeface="Public Sans"/>
                <a:cs typeface="Public Sans"/>
                <a:sym typeface="Public Sans"/>
              </a:endParaRPr>
            </a:p>
          </p:txBody>
        </p:sp>
      </p:grpSp>
      <p:grpSp>
        <p:nvGrpSpPr>
          <p:cNvPr id="107" name="Google Shape;107;p16"/>
          <p:cNvGrpSpPr/>
          <p:nvPr/>
        </p:nvGrpSpPr>
        <p:grpSpPr>
          <a:xfrm>
            <a:off x="2323952" y="3080258"/>
            <a:ext cx="1781700" cy="1356253"/>
            <a:chOff x="2323952" y="3080258"/>
            <a:chExt cx="1781700" cy="1356253"/>
          </a:xfrm>
        </p:grpSpPr>
        <p:sp>
          <p:nvSpPr>
            <p:cNvPr id="108" name="Google Shape;108;p16"/>
            <p:cNvSpPr/>
            <p:nvPr/>
          </p:nvSpPr>
          <p:spPr>
            <a:xfrm>
              <a:off x="2437281" y="3080265"/>
              <a:ext cx="1534500" cy="133500"/>
            </a:xfrm>
            <a:prstGeom prst="rect">
              <a:avLst/>
            </a:prstGeom>
            <a:solidFill>
              <a:srgbClr val="0856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6"/>
            <p:cNvSpPr txBox="1"/>
            <p:nvPr/>
          </p:nvSpPr>
          <p:spPr>
            <a:xfrm>
              <a:off x="2323952" y="3492711"/>
              <a:ext cx="1781700" cy="94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800">
                  <a:solidFill>
                    <a:srgbClr val="FFFFFF"/>
                  </a:solidFill>
                  <a:latin typeface="Public Sans"/>
                  <a:ea typeface="Public Sans"/>
                  <a:cs typeface="Public Sans"/>
                  <a:sym typeface="Public Sans"/>
                </a:rPr>
                <a:t>Organize and Clean Data</a:t>
              </a:r>
              <a:endParaRPr b="1" sz="800">
                <a:solidFill>
                  <a:srgbClr val="FFFFFF"/>
                </a:solidFill>
                <a:latin typeface="Public Sans"/>
                <a:ea typeface="Public Sans"/>
                <a:cs typeface="Public Sans"/>
                <a:sym typeface="Public Sans"/>
              </a:endParaRPr>
            </a:p>
            <a:p>
              <a:pPr indent="0" lvl="0" marL="0" rtl="0" algn="l">
                <a:spcBef>
                  <a:spcPts val="0"/>
                </a:spcBef>
                <a:spcAft>
                  <a:spcPts val="0"/>
                </a:spcAft>
                <a:buNone/>
              </a:pPr>
              <a:r>
                <a:t/>
              </a:r>
              <a:endParaRPr b="1" sz="800">
                <a:solidFill>
                  <a:srgbClr val="FFFFFF"/>
                </a:solidFill>
                <a:latin typeface="Public Sans"/>
                <a:ea typeface="Public Sans"/>
                <a:cs typeface="Public Sans"/>
                <a:sym typeface="Public Sans"/>
              </a:endParaRPr>
            </a:p>
            <a:p>
              <a:pPr indent="0" lvl="0" marL="0" rtl="0" algn="l">
                <a:spcBef>
                  <a:spcPts val="0"/>
                </a:spcBef>
                <a:spcAft>
                  <a:spcPts val="1600"/>
                </a:spcAft>
                <a:buNone/>
              </a:pPr>
              <a:r>
                <a:rPr lang="en" sz="800">
                  <a:solidFill>
                    <a:srgbClr val="FFFFFF"/>
                  </a:solidFill>
                  <a:latin typeface="Public Sans"/>
                  <a:ea typeface="Public Sans"/>
                  <a:cs typeface="Public Sans"/>
                  <a:sym typeface="Public Sans"/>
                </a:rPr>
                <a:t>The main fact table was divided into 3 tables to avoid the use of unnecessary duplicate values. It was structured into a star schema, consisting of 1 fact table and 2 dimension tables.</a:t>
              </a:r>
              <a:endParaRPr b="1" sz="800">
                <a:solidFill>
                  <a:srgbClr val="FFFFFF"/>
                </a:solidFill>
                <a:latin typeface="Public Sans"/>
                <a:ea typeface="Public Sans"/>
                <a:cs typeface="Public Sans"/>
                <a:sym typeface="Public Sans"/>
              </a:endParaRPr>
            </a:p>
          </p:txBody>
        </p:sp>
        <p:grpSp>
          <p:nvGrpSpPr>
            <p:cNvPr id="110" name="Google Shape;110;p16"/>
            <p:cNvGrpSpPr/>
            <p:nvPr/>
          </p:nvGrpSpPr>
          <p:grpSpPr>
            <a:xfrm rot="10800000">
              <a:off x="2395183" y="3080258"/>
              <a:ext cx="92400" cy="411825"/>
              <a:chOff x="2070100" y="2563700"/>
              <a:chExt cx="92400" cy="411825"/>
            </a:xfrm>
          </p:grpSpPr>
          <p:cxnSp>
            <p:nvCxnSpPr>
              <p:cNvPr id="111" name="Google Shape;111;p16"/>
              <p:cNvCxnSpPr/>
              <p:nvPr/>
            </p:nvCxnSpPr>
            <p:spPr>
              <a:xfrm>
                <a:off x="2116300" y="2616125"/>
                <a:ext cx="0" cy="359400"/>
              </a:xfrm>
              <a:prstGeom prst="straightConnector1">
                <a:avLst/>
              </a:prstGeom>
              <a:noFill/>
              <a:ln cap="flat" cmpd="sng" w="9525">
                <a:solidFill>
                  <a:srgbClr val="000000"/>
                </a:solidFill>
                <a:prstDash val="solid"/>
                <a:round/>
                <a:headEnd len="sm" w="sm" type="none"/>
                <a:tailEnd len="sm" w="sm" type="none"/>
              </a:ln>
            </p:spPr>
          </p:cxnSp>
          <p:sp>
            <p:nvSpPr>
              <p:cNvPr id="112" name="Google Shape;112;p16"/>
              <p:cNvSpPr/>
              <p:nvPr/>
            </p:nvSpPr>
            <p:spPr>
              <a:xfrm>
                <a:off x="2070100" y="2563700"/>
                <a:ext cx="92400" cy="92400"/>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13" name="Google Shape;113;p16"/>
          <p:cNvGrpSpPr/>
          <p:nvPr/>
        </p:nvGrpSpPr>
        <p:grpSpPr>
          <a:xfrm>
            <a:off x="3870747" y="1851975"/>
            <a:ext cx="1781700" cy="1361790"/>
            <a:chOff x="3870747" y="1851975"/>
            <a:chExt cx="1781700" cy="1361790"/>
          </a:xfrm>
        </p:grpSpPr>
        <p:sp>
          <p:nvSpPr>
            <p:cNvPr id="114" name="Google Shape;114;p16"/>
            <p:cNvSpPr/>
            <p:nvPr/>
          </p:nvSpPr>
          <p:spPr>
            <a:xfrm>
              <a:off x="3971778" y="3080265"/>
              <a:ext cx="1534500" cy="133500"/>
            </a:xfrm>
            <a:prstGeom prst="rect">
              <a:avLst/>
            </a:prstGeom>
            <a:solidFill>
              <a:srgbClr val="0E945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5" name="Google Shape;115;p16"/>
            <p:cNvGrpSpPr/>
            <p:nvPr/>
          </p:nvGrpSpPr>
          <p:grpSpPr>
            <a:xfrm>
              <a:off x="3924544" y="2800855"/>
              <a:ext cx="92400" cy="411825"/>
              <a:chOff x="845575" y="2563700"/>
              <a:chExt cx="92400" cy="411825"/>
            </a:xfrm>
          </p:grpSpPr>
          <p:cxnSp>
            <p:nvCxnSpPr>
              <p:cNvPr id="116" name="Google Shape;116;p16"/>
              <p:cNvCxnSpPr/>
              <p:nvPr/>
            </p:nvCxnSpPr>
            <p:spPr>
              <a:xfrm>
                <a:off x="891775" y="2616125"/>
                <a:ext cx="0" cy="359400"/>
              </a:xfrm>
              <a:prstGeom prst="straightConnector1">
                <a:avLst/>
              </a:prstGeom>
              <a:noFill/>
              <a:ln cap="flat" cmpd="sng" w="9525">
                <a:solidFill>
                  <a:srgbClr val="000000"/>
                </a:solidFill>
                <a:prstDash val="solid"/>
                <a:round/>
                <a:headEnd len="sm" w="sm" type="none"/>
                <a:tailEnd len="sm" w="sm" type="none"/>
              </a:ln>
            </p:spPr>
          </p:cxnSp>
          <p:sp>
            <p:nvSpPr>
              <p:cNvPr id="117" name="Google Shape;117;p16"/>
              <p:cNvSpPr/>
              <p:nvPr/>
            </p:nvSpPr>
            <p:spPr>
              <a:xfrm>
                <a:off x="845575" y="2563700"/>
                <a:ext cx="92400" cy="92400"/>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8" name="Google Shape;118;p16"/>
            <p:cNvSpPr txBox="1"/>
            <p:nvPr/>
          </p:nvSpPr>
          <p:spPr>
            <a:xfrm>
              <a:off x="3870747" y="1851975"/>
              <a:ext cx="1781700" cy="94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800">
                  <a:solidFill>
                    <a:srgbClr val="FFFFFF"/>
                  </a:solidFill>
                  <a:latin typeface="Public Sans"/>
                  <a:ea typeface="Public Sans"/>
                  <a:cs typeface="Public Sans"/>
                  <a:sym typeface="Public Sans"/>
                </a:rPr>
                <a:t>DAX Formulas</a:t>
              </a:r>
              <a:endParaRPr b="1" sz="800">
                <a:solidFill>
                  <a:srgbClr val="FFFFFF"/>
                </a:solidFill>
                <a:latin typeface="Public Sans"/>
                <a:ea typeface="Public Sans"/>
                <a:cs typeface="Public Sans"/>
                <a:sym typeface="Public Sans"/>
              </a:endParaRPr>
            </a:p>
            <a:p>
              <a:pPr indent="0" lvl="0" marL="0" rtl="0" algn="l">
                <a:spcBef>
                  <a:spcPts val="0"/>
                </a:spcBef>
                <a:spcAft>
                  <a:spcPts val="0"/>
                </a:spcAft>
                <a:buNone/>
              </a:pPr>
              <a:r>
                <a:t/>
              </a:r>
              <a:endParaRPr b="1" sz="800">
                <a:solidFill>
                  <a:srgbClr val="FFFFFF"/>
                </a:solidFill>
                <a:latin typeface="Public Sans"/>
                <a:ea typeface="Public Sans"/>
                <a:cs typeface="Public Sans"/>
                <a:sym typeface="Public Sans"/>
              </a:endParaRPr>
            </a:p>
            <a:p>
              <a:pPr indent="0" lvl="0" marL="0" rtl="0" algn="l">
                <a:spcBef>
                  <a:spcPts val="0"/>
                </a:spcBef>
                <a:spcAft>
                  <a:spcPts val="1600"/>
                </a:spcAft>
                <a:buNone/>
              </a:pPr>
              <a:r>
                <a:rPr lang="en" sz="800">
                  <a:solidFill>
                    <a:srgbClr val="FFFFFF"/>
                  </a:solidFill>
                  <a:latin typeface="Public Sans"/>
                  <a:ea typeface="Public Sans"/>
                  <a:cs typeface="Public Sans"/>
                  <a:sym typeface="Public Sans"/>
                </a:rPr>
                <a:t>Measures were written and compiled into a “_DAX” table, which centralizes all DAX formulas for better organization. </a:t>
              </a:r>
              <a:endParaRPr b="1" sz="800">
                <a:solidFill>
                  <a:srgbClr val="FFFFFF"/>
                </a:solidFill>
                <a:latin typeface="Public Sans"/>
                <a:ea typeface="Public Sans"/>
                <a:cs typeface="Public Sans"/>
                <a:sym typeface="Public Sans"/>
              </a:endParaRPr>
            </a:p>
          </p:txBody>
        </p:sp>
      </p:grpSp>
      <p:grpSp>
        <p:nvGrpSpPr>
          <p:cNvPr id="119" name="Google Shape;119;p16"/>
          <p:cNvGrpSpPr/>
          <p:nvPr/>
        </p:nvGrpSpPr>
        <p:grpSpPr>
          <a:xfrm>
            <a:off x="5370448" y="3080258"/>
            <a:ext cx="1781700" cy="1356253"/>
            <a:chOff x="5370448" y="3080258"/>
            <a:chExt cx="1781700" cy="1356253"/>
          </a:xfrm>
        </p:grpSpPr>
        <p:sp>
          <p:nvSpPr>
            <p:cNvPr id="120" name="Google Shape;120;p16"/>
            <p:cNvSpPr/>
            <p:nvPr/>
          </p:nvSpPr>
          <p:spPr>
            <a:xfrm>
              <a:off x="5506276" y="3080265"/>
              <a:ext cx="1534500" cy="133500"/>
            </a:xfrm>
            <a:prstGeom prst="rect">
              <a:avLst/>
            </a:prstGeom>
            <a:solidFill>
              <a:srgbClr val="0856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1" name="Google Shape;121;p16"/>
            <p:cNvGrpSpPr/>
            <p:nvPr/>
          </p:nvGrpSpPr>
          <p:grpSpPr>
            <a:xfrm rot="10800000">
              <a:off x="5455515" y="3080258"/>
              <a:ext cx="92400" cy="411825"/>
              <a:chOff x="2070100" y="2563700"/>
              <a:chExt cx="92400" cy="411825"/>
            </a:xfrm>
          </p:grpSpPr>
          <p:cxnSp>
            <p:nvCxnSpPr>
              <p:cNvPr id="122" name="Google Shape;122;p16"/>
              <p:cNvCxnSpPr/>
              <p:nvPr/>
            </p:nvCxnSpPr>
            <p:spPr>
              <a:xfrm>
                <a:off x="2116300" y="2616125"/>
                <a:ext cx="0" cy="359400"/>
              </a:xfrm>
              <a:prstGeom prst="straightConnector1">
                <a:avLst/>
              </a:prstGeom>
              <a:noFill/>
              <a:ln cap="flat" cmpd="sng" w="9525">
                <a:solidFill>
                  <a:srgbClr val="000000"/>
                </a:solidFill>
                <a:prstDash val="solid"/>
                <a:round/>
                <a:headEnd len="sm" w="sm" type="none"/>
                <a:tailEnd len="sm" w="sm" type="none"/>
              </a:ln>
            </p:spPr>
          </p:cxnSp>
          <p:sp>
            <p:nvSpPr>
              <p:cNvPr id="123" name="Google Shape;123;p16"/>
              <p:cNvSpPr/>
              <p:nvPr/>
            </p:nvSpPr>
            <p:spPr>
              <a:xfrm>
                <a:off x="2070100" y="2563700"/>
                <a:ext cx="92400" cy="92400"/>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4" name="Google Shape;124;p16"/>
            <p:cNvSpPr txBox="1"/>
            <p:nvPr/>
          </p:nvSpPr>
          <p:spPr>
            <a:xfrm>
              <a:off x="5370448" y="3492711"/>
              <a:ext cx="1781700" cy="94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800">
                  <a:solidFill>
                    <a:srgbClr val="FFFFFF"/>
                  </a:solidFill>
                  <a:latin typeface="Public Sans"/>
                  <a:ea typeface="Public Sans"/>
                  <a:cs typeface="Public Sans"/>
                  <a:sym typeface="Public Sans"/>
                </a:rPr>
                <a:t>Planning Stage</a:t>
              </a:r>
              <a:endParaRPr b="1" sz="800">
                <a:solidFill>
                  <a:srgbClr val="FFFFFF"/>
                </a:solidFill>
                <a:latin typeface="Public Sans"/>
                <a:ea typeface="Public Sans"/>
                <a:cs typeface="Public Sans"/>
                <a:sym typeface="Public Sans"/>
              </a:endParaRPr>
            </a:p>
            <a:p>
              <a:pPr indent="0" lvl="0" marL="0" rtl="0" algn="l">
                <a:spcBef>
                  <a:spcPts val="0"/>
                </a:spcBef>
                <a:spcAft>
                  <a:spcPts val="0"/>
                </a:spcAft>
                <a:buNone/>
              </a:pPr>
              <a:r>
                <a:t/>
              </a:r>
              <a:endParaRPr b="1" sz="800">
                <a:solidFill>
                  <a:srgbClr val="FFFFFF"/>
                </a:solidFill>
                <a:latin typeface="Public Sans"/>
                <a:ea typeface="Public Sans"/>
                <a:cs typeface="Public Sans"/>
                <a:sym typeface="Public Sans"/>
              </a:endParaRPr>
            </a:p>
            <a:p>
              <a:pPr indent="0" lvl="0" marL="0" rtl="0" algn="l">
                <a:spcBef>
                  <a:spcPts val="0"/>
                </a:spcBef>
                <a:spcAft>
                  <a:spcPts val="1600"/>
                </a:spcAft>
                <a:buNone/>
              </a:pPr>
              <a:r>
                <a:rPr lang="en" sz="800">
                  <a:solidFill>
                    <a:srgbClr val="FFFFFF"/>
                  </a:solidFill>
                  <a:latin typeface="Public Sans"/>
                  <a:ea typeface="Public Sans"/>
                  <a:cs typeface="Public Sans"/>
                  <a:sym typeface="Public Sans"/>
                </a:rPr>
                <a:t>Each report page was given a name, purpose, and defined scope, with Power BI used to visualize the underlying data. </a:t>
              </a:r>
              <a:endParaRPr b="1" sz="800">
                <a:solidFill>
                  <a:srgbClr val="FFFFFF"/>
                </a:solidFill>
                <a:latin typeface="Public Sans"/>
                <a:ea typeface="Public Sans"/>
                <a:cs typeface="Public Sans"/>
                <a:sym typeface="Public Sans"/>
              </a:endParaRPr>
            </a:p>
          </p:txBody>
        </p:sp>
      </p:grpSp>
      <p:grpSp>
        <p:nvGrpSpPr>
          <p:cNvPr id="125" name="Google Shape;125;p16"/>
          <p:cNvGrpSpPr/>
          <p:nvPr/>
        </p:nvGrpSpPr>
        <p:grpSpPr>
          <a:xfrm>
            <a:off x="6939725" y="1078025"/>
            <a:ext cx="2206758" cy="2135740"/>
            <a:chOff x="6939725" y="1078025"/>
            <a:chExt cx="2206758" cy="2135740"/>
          </a:xfrm>
        </p:grpSpPr>
        <p:sp>
          <p:nvSpPr>
            <p:cNvPr id="126" name="Google Shape;126;p16"/>
            <p:cNvSpPr/>
            <p:nvPr/>
          </p:nvSpPr>
          <p:spPr>
            <a:xfrm>
              <a:off x="7040783" y="3080265"/>
              <a:ext cx="2105700" cy="133500"/>
            </a:xfrm>
            <a:prstGeom prst="rect">
              <a:avLst/>
            </a:prstGeom>
            <a:solidFill>
              <a:srgbClr val="0E945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7" name="Google Shape;127;p16"/>
            <p:cNvGrpSpPr/>
            <p:nvPr/>
          </p:nvGrpSpPr>
          <p:grpSpPr>
            <a:xfrm>
              <a:off x="6994658" y="2800855"/>
              <a:ext cx="92400" cy="411825"/>
              <a:chOff x="845575" y="2563700"/>
              <a:chExt cx="92400" cy="411825"/>
            </a:xfrm>
          </p:grpSpPr>
          <p:cxnSp>
            <p:nvCxnSpPr>
              <p:cNvPr id="128" name="Google Shape;128;p16"/>
              <p:cNvCxnSpPr/>
              <p:nvPr/>
            </p:nvCxnSpPr>
            <p:spPr>
              <a:xfrm>
                <a:off x="891775" y="2616125"/>
                <a:ext cx="0" cy="359400"/>
              </a:xfrm>
              <a:prstGeom prst="straightConnector1">
                <a:avLst/>
              </a:prstGeom>
              <a:noFill/>
              <a:ln cap="flat" cmpd="sng" w="9525">
                <a:solidFill>
                  <a:srgbClr val="000000"/>
                </a:solidFill>
                <a:prstDash val="solid"/>
                <a:round/>
                <a:headEnd len="sm" w="sm" type="none"/>
                <a:tailEnd len="sm" w="sm" type="none"/>
              </a:ln>
            </p:spPr>
          </p:cxnSp>
          <p:sp>
            <p:nvSpPr>
              <p:cNvPr id="129" name="Google Shape;129;p16"/>
              <p:cNvSpPr/>
              <p:nvPr/>
            </p:nvSpPr>
            <p:spPr>
              <a:xfrm>
                <a:off x="845575" y="2563700"/>
                <a:ext cx="92400" cy="92400"/>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0" name="Google Shape;130;p16"/>
            <p:cNvSpPr txBox="1"/>
            <p:nvPr/>
          </p:nvSpPr>
          <p:spPr>
            <a:xfrm>
              <a:off x="6939725" y="1078025"/>
              <a:ext cx="1781700" cy="135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800">
                  <a:solidFill>
                    <a:srgbClr val="FFFFFF"/>
                  </a:solidFill>
                  <a:latin typeface="Public Sans"/>
                  <a:ea typeface="Public Sans"/>
                  <a:cs typeface="Public Sans"/>
                  <a:sym typeface="Public Sans"/>
                </a:rPr>
                <a:t>Creating Visuals and Polishing for Aesthetics</a:t>
              </a:r>
              <a:endParaRPr b="1" sz="800">
                <a:solidFill>
                  <a:srgbClr val="FFFFFF"/>
                </a:solidFill>
                <a:latin typeface="Public Sans"/>
                <a:ea typeface="Public Sans"/>
                <a:cs typeface="Public Sans"/>
                <a:sym typeface="Public Sans"/>
              </a:endParaRPr>
            </a:p>
            <a:p>
              <a:pPr indent="0" lvl="0" marL="0" rtl="0" algn="l">
                <a:spcBef>
                  <a:spcPts val="0"/>
                </a:spcBef>
                <a:spcAft>
                  <a:spcPts val="0"/>
                </a:spcAft>
                <a:buNone/>
              </a:pPr>
              <a:r>
                <a:t/>
              </a:r>
              <a:endParaRPr b="1" sz="800">
                <a:solidFill>
                  <a:srgbClr val="FFFFFF"/>
                </a:solidFill>
                <a:latin typeface="Public Sans"/>
                <a:ea typeface="Public Sans"/>
                <a:cs typeface="Public Sans"/>
                <a:sym typeface="Public Sans"/>
              </a:endParaRPr>
            </a:p>
            <a:p>
              <a:pPr indent="0" lvl="0" marL="0" rtl="0" algn="l">
                <a:spcBef>
                  <a:spcPts val="0"/>
                </a:spcBef>
                <a:spcAft>
                  <a:spcPts val="1600"/>
                </a:spcAft>
                <a:buNone/>
              </a:pPr>
              <a:r>
                <a:rPr lang="en" sz="800">
                  <a:solidFill>
                    <a:srgbClr val="FFFFFF"/>
                  </a:solidFill>
                  <a:latin typeface="Public Sans"/>
                  <a:ea typeface="Public Sans"/>
                  <a:cs typeface="Public Sans"/>
                  <a:sym typeface="Public Sans"/>
                </a:rPr>
                <a:t>Visuals were created using DAX measures and columns in the 3 tables. A final polish was done to ensure that the report is easy to read, and that the styling theme was consistent throughout the entire report. A PDF version of the report was exported, and was converted into separate PNG files for convenience.</a:t>
              </a:r>
              <a:endParaRPr b="1" sz="800">
                <a:solidFill>
                  <a:srgbClr val="FFFFFF"/>
                </a:solidFill>
                <a:latin typeface="Public Sans"/>
                <a:ea typeface="Public Sans"/>
                <a:cs typeface="Public Sans"/>
                <a:sym typeface="Public Sans"/>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D56A3"/>
            </a:gs>
            <a:gs pos="100000">
              <a:srgbClr val="1B3D6E"/>
            </a:gs>
          </a:gsLst>
          <a:path path="circle">
            <a:fillToRect b="50%" l="50%" r="50%" t="50%"/>
          </a:path>
          <a:tileRect/>
        </a:gradFill>
      </p:bgPr>
    </p:bg>
    <p:spTree>
      <p:nvGrpSpPr>
        <p:cNvPr id="134" name="Shape 134"/>
        <p:cNvGrpSpPr/>
        <p:nvPr/>
      </p:nvGrpSpPr>
      <p:grpSpPr>
        <a:xfrm>
          <a:off x="0" y="0"/>
          <a:ext cx="0" cy="0"/>
          <a:chOff x="0" y="0"/>
          <a:chExt cx="0" cy="0"/>
        </a:xfrm>
      </p:grpSpPr>
      <p:sp>
        <p:nvSpPr>
          <p:cNvPr id="135" name="Google Shape;135;p17"/>
          <p:cNvSpPr txBox="1"/>
          <p:nvPr/>
        </p:nvSpPr>
        <p:spPr>
          <a:xfrm>
            <a:off x="2411250" y="4734338"/>
            <a:ext cx="4321500" cy="338700"/>
          </a:xfrm>
          <a:prstGeom prst="rect">
            <a:avLst/>
          </a:prstGeom>
          <a:no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FFFFFF"/>
                </a:solidFill>
                <a:latin typeface="Public Sans"/>
                <a:ea typeface="Public Sans"/>
                <a:cs typeface="Public Sans"/>
                <a:sym typeface="Public Sans"/>
              </a:rPr>
              <a:t>Duplicate MRN Analysis Project • Ethan Dobbs </a:t>
            </a:r>
            <a:r>
              <a:rPr lang="en" sz="1000">
                <a:solidFill>
                  <a:schemeClr val="lt1"/>
                </a:solidFill>
                <a:latin typeface="Public Sans"/>
                <a:ea typeface="Public Sans"/>
                <a:cs typeface="Public Sans"/>
                <a:sym typeface="Public Sans"/>
              </a:rPr>
              <a:t>• 2026</a:t>
            </a:r>
            <a:endParaRPr sz="1000">
              <a:solidFill>
                <a:srgbClr val="FFFFFF"/>
              </a:solidFill>
              <a:latin typeface="Public Sans"/>
              <a:ea typeface="Public Sans"/>
              <a:cs typeface="Public Sans"/>
              <a:sym typeface="Public Sans"/>
            </a:endParaRPr>
          </a:p>
        </p:txBody>
      </p:sp>
      <p:pic>
        <p:nvPicPr>
          <p:cNvPr id="136" name="Google Shape;136;p17"/>
          <p:cNvPicPr preferRelativeResize="0"/>
          <p:nvPr/>
        </p:nvPicPr>
        <p:blipFill>
          <a:blip r:embed="rId3">
            <a:alphaModFix/>
          </a:blip>
          <a:stretch>
            <a:fillRect/>
          </a:stretch>
        </p:blipFill>
        <p:spPr>
          <a:xfrm>
            <a:off x="2319350" y="475650"/>
            <a:ext cx="6705249" cy="3876475"/>
          </a:xfrm>
          <a:prstGeom prst="rect">
            <a:avLst/>
          </a:prstGeom>
          <a:noFill/>
          <a:ln>
            <a:noFill/>
          </a:ln>
        </p:spPr>
      </p:pic>
      <p:sp>
        <p:nvSpPr>
          <p:cNvPr id="137" name="Google Shape;137;p17"/>
          <p:cNvSpPr txBox="1"/>
          <p:nvPr/>
        </p:nvSpPr>
        <p:spPr>
          <a:xfrm>
            <a:off x="191950" y="475550"/>
            <a:ext cx="1955700" cy="3876600"/>
          </a:xfrm>
          <a:prstGeom prst="rect">
            <a:avLst/>
          </a:prstGeom>
          <a:noFill/>
          <a:ln>
            <a:noFill/>
          </a:ln>
          <a:effectLst>
            <a:outerShdw blurRad="57150" rotWithShape="0" algn="bl" dir="5400000" dist="19050">
              <a:srgbClr val="000000">
                <a:alpha val="50000"/>
              </a:srgbClr>
            </a:outerShdw>
          </a:effectLst>
        </p:spPr>
        <p:txBody>
          <a:bodyPr anchorCtr="0" anchor="ctr" bIns="91425" lIns="0" spcFirstLastPara="1" rIns="0" wrap="square" tIns="91425">
            <a:noAutofit/>
          </a:bodyPr>
          <a:lstStyle/>
          <a:p>
            <a:pPr indent="-128270" lvl="0" marL="274320" rtl="0" algn="l">
              <a:spcBef>
                <a:spcPts val="0"/>
              </a:spcBef>
              <a:spcAft>
                <a:spcPts val="0"/>
              </a:spcAft>
              <a:buClr>
                <a:srgbClr val="FFFFFF"/>
              </a:buClr>
              <a:buSzPts val="1300"/>
              <a:buFont typeface="Public Sans"/>
              <a:buChar char="●"/>
            </a:pPr>
            <a:r>
              <a:rPr lang="en" sz="1300">
                <a:solidFill>
                  <a:srgbClr val="FFFFFF"/>
                </a:solidFill>
                <a:latin typeface="Public Sans"/>
                <a:ea typeface="Public Sans"/>
                <a:cs typeface="Public Sans"/>
                <a:sym typeface="Public Sans"/>
              </a:rPr>
              <a:t>The ‘Executive Summary’ report page provides a high-level snapshot of duplicate MRN concentration</a:t>
            </a:r>
            <a:endParaRPr sz="1300">
              <a:solidFill>
                <a:srgbClr val="FFFFFF"/>
              </a:solidFill>
              <a:latin typeface="Public Sans"/>
              <a:ea typeface="Public Sans"/>
              <a:cs typeface="Public Sans"/>
              <a:sym typeface="Public Sans"/>
            </a:endParaRPr>
          </a:p>
          <a:p>
            <a:pPr indent="-128270" lvl="0" marL="274320" rtl="0" algn="l">
              <a:spcBef>
                <a:spcPts val="0"/>
              </a:spcBef>
              <a:spcAft>
                <a:spcPts val="0"/>
              </a:spcAft>
              <a:buClr>
                <a:srgbClr val="FFFFFF"/>
              </a:buClr>
              <a:buSzPts val="1300"/>
              <a:buFont typeface="Public Sans"/>
              <a:buChar char="●"/>
            </a:pPr>
            <a:r>
              <a:rPr lang="en" sz="1300">
                <a:solidFill>
                  <a:srgbClr val="FFFFFF"/>
                </a:solidFill>
                <a:latin typeface="Public Sans"/>
                <a:ea typeface="Public Sans"/>
                <a:cs typeface="Public Sans"/>
                <a:sym typeface="Public Sans"/>
              </a:rPr>
              <a:t>Sets the stage for deeper investigation into root causes </a:t>
            </a:r>
            <a:endParaRPr sz="1300">
              <a:solidFill>
                <a:srgbClr val="FFFFFF"/>
              </a:solidFill>
              <a:latin typeface="Public Sans"/>
              <a:ea typeface="Public Sans"/>
              <a:cs typeface="Public Sans"/>
              <a:sym typeface="Public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D56A3"/>
            </a:gs>
            <a:gs pos="100000">
              <a:srgbClr val="1B3D6E"/>
            </a:gs>
          </a:gsLst>
          <a:path path="circle">
            <a:fillToRect b="50%" l="50%" r="50%" t="50%"/>
          </a:path>
          <a:tileRect/>
        </a:gradFill>
      </p:bgPr>
    </p:bg>
    <p:spTree>
      <p:nvGrpSpPr>
        <p:cNvPr id="141" name="Shape 141"/>
        <p:cNvGrpSpPr/>
        <p:nvPr/>
      </p:nvGrpSpPr>
      <p:grpSpPr>
        <a:xfrm>
          <a:off x="0" y="0"/>
          <a:ext cx="0" cy="0"/>
          <a:chOff x="0" y="0"/>
          <a:chExt cx="0" cy="0"/>
        </a:xfrm>
      </p:grpSpPr>
      <p:sp>
        <p:nvSpPr>
          <p:cNvPr id="142" name="Google Shape;142;p18"/>
          <p:cNvSpPr txBox="1"/>
          <p:nvPr/>
        </p:nvSpPr>
        <p:spPr>
          <a:xfrm>
            <a:off x="2411250" y="4734338"/>
            <a:ext cx="4321500" cy="338700"/>
          </a:xfrm>
          <a:prstGeom prst="rect">
            <a:avLst/>
          </a:prstGeom>
          <a:no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FFFFFF"/>
                </a:solidFill>
                <a:latin typeface="Public Sans"/>
                <a:ea typeface="Public Sans"/>
                <a:cs typeface="Public Sans"/>
                <a:sym typeface="Public Sans"/>
              </a:rPr>
              <a:t>Duplicate MRN Analysis Project • Ethan Dobbs </a:t>
            </a:r>
            <a:r>
              <a:rPr lang="en" sz="1000">
                <a:solidFill>
                  <a:schemeClr val="lt1"/>
                </a:solidFill>
                <a:latin typeface="Public Sans"/>
                <a:ea typeface="Public Sans"/>
                <a:cs typeface="Public Sans"/>
                <a:sym typeface="Public Sans"/>
              </a:rPr>
              <a:t>• 2026</a:t>
            </a:r>
            <a:endParaRPr sz="1000">
              <a:solidFill>
                <a:srgbClr val="FFFFFF"/>
              </a:solidFill>
              <a:latin typeface="Public Sans"/>
              <a:ea typeface="Public Sans"/>
              <a:cs typeface="Public Sans"/>
              <a:sym typeface="Public Sans"/>
            </a:endParaRPr>
          </a:p>
        </p:txBody>
      </p:sp>
      <p:pic>
        <p:nvPicPr>
          <p:cNvPr id="143" name="Google Shape;143;p18"/>
          <p:cNvPicPr preferRelativeResize="0"/>
          <p:nvPr/>
        </p:nvPicPr>
        <p:blipFill>
          <a:blip r:embed="rId3">
            <a:alphaModFix/>
          </a:blip>
          <a:stretch>
            <a:fillRect/>
          </a:stretch>
        </p:blipFill>
        <p:spPr>
          <a:xfrm>
            <a:off x="2319350" y="475650"/>
            <a:ext cx="6705249" cy="3876475"/>
          </a:xfrm>
          <a:prstGeom prst="rect">
            <a:avLst/>
          </a:prstGeom>
          <a:noFill/>
          <a:ln>
            <a:noFill/>
          </a:ln>
        </p:spPr>
      </p:pic>
      <p:pic>
        <p:nvPicPr>
          <p:cNvPr id="144" name="Google Shape;144;p18"/>
          <p:cNvPicPr preferRelativeResize="0"/>
          <p:nvPr/>
        </p:nvPicPr>
        <p:blipFill>
          <a:blip r:embed="rId4">
            <a:alphaModFix/>
          </a:blip>
          <a:stretch>
            <a:fillRect/>
          </a:stretch>
        </p:blipFill>
        <p:spPr>
          <a:xfrm>
            <a:off x="2319350" y="475654"/>
            <a:ext cx="6705249" cy="3876472"/>
          </a:xfrm>
          <a:prstGeom prst="rect">
            <a:avLst/>
          </a:prstGeom>
          <a:noFill/>
          <a:ln>
            <a:noFill/>
          </a:ln>
        </p:spPr>
      </p:pic>
      <p:sp>
        <p:nvSpPr>
          <p:cNvPr id="145" name="Google Shape;145;p18"/>
          <p:cNvSpPr txBox="1"/>
          <p:nvPr/>
        </p:nvSpPr>
        <p:spPr>
          <a:xfrm>
            <a:off x="191950" y="475550"/>
            <a:ext cx="1955700" cy="3876600"/>
          </a:xfrm>
          <a:prstGeom prst="rect">
            <a:avLst/>
          </a:prstGeom>
          <a:noFill/>
          <a:ln>
            <a:noFill/>
          </a:ln>
          <a:effectLst>
            <a:outerShdw blurRad="57150" rotWithShape="0" algn="bl" dir="5400000" dist="19050">
              <a:srgbClr val="000000">
                <a:alpha val="50000"/>
              </a:srgbClr>
            </a:outerShdw>
          </a:effectLst>
        </p:spPr>
        <p:txBody>
          <a:bodyPr anchorCtr="0" anchor="ctr" bIns="91425" lIns="0" spcFirstLastPara="1" rIns="0" wrap="square" tIns="91425">
            <a:noAutofit/>
          </a:bodyPr>
          <a:lstStyle/>
          <a:p>
            <a:pPr indent="-128270" lvl="0" marL="274320" rtl="0" algn="l">
              <a:spcBef>
                <a:spcPts val="0"/>
              </a:spcBef>
              <a:spcAft>
                <a:spcPts val="0"/>
              </a:spcAft>
              <a:buClr>
                <a:srgbClr val="FFFFFF"/>
              </a:buClr>
              <a:buSzPts val="1300"/>
              <a:buFont typeface="Public Sans"/>
              <a:buChar char="●"/>
            </a:pPr>
            <a:r>
              <a:rPr lang="en" sz="1300">
                <a:solidFill>
                  <a:srgbClr val="FFFFFF"/>
                </a:solidFill>
                <a:latin typeface="Public Sans"/>
                <a:ea typeface="Public Sans"/>
                <a:cs typeface="Public Sans"/>
                <a:sym typeface="Public Sans"/>
              </a:rPr>
              <a:t>The ‘Root Cause Analysis’ page shows a detailed view of underlying causes</a:t>
            </a:r>
            <a:endParaRPr sz="1300">
              <a:solidFill>
                <a:srgbClr val="FFFFFF"/>
              </a:solidFill>
              <a:latin typeface="Public Sans"/>
              <a:ea typeface="Public Sans"/>
              <a:cs typeface="Public Sans"/>
              <a:sym typeface="Public Sans"/>
            </a:endParaRPr>
          </a:p>
          <a:p>
            <a:pPr indent="-128270" lvl="0" marL="274320" rtl="0" algn="l">
              <a:spcBef>
                <a:spcPts val="0"/>
              </a:spcBef>
              <a:spcAft>
                <a:spcPts val="0"/>
              </a:spcAft>
              <a:buClr>
                <a:srgbClr val="FFFFFF"/>
              </a:buClr>
              <a:buSzPts val="1300"/>
              <a:buFont typeface="Public Sans"/>
              <a:buChar char="●"/>
            </a:pPr>
            <a:r>
              <a:rPr lang="en" sz="1300">
                <a:solidFill>
                  <a:srgbClr val="FFFFFF"/>
                </a:solidFill>
                <a:latin typeface="Public Sans"/>
                <a:ea typeface="Public Sans"/>
                <a:cs typeface="Public Sans"/>
                <a:sym typeface="Public Sans"/>
              </a:rPr>
              <a:t>Helps identify the location and source of the causes</a:t>
            </a:r>
            <a:endParaRPr sz="1300">
              <a:solidFill>
                <a:srgbClr val="FFFFFF"/>
              </a:solidFill>
              <a:latin typeface="Public Sans"/>
              <a:ea typeface="Public Sans"/>
              <a:cs typeface="Public Sans"/>
              <a:sym typeface="Public Sans"/>
            </a:endParaRPr>
          </a:p>
          <a:p>
            <a:pPr indent="-128270" lvl="0" marL="274320" rtl="0" algn="l">
              <a:spcBef>
                <a:spcPts val="0"/>
              </a:spcBef>
              <a:spcAft>
                <a:spcPts val="0"/>
              </a:spcAft>
              <a:buClr>
                <a:srgbClr val="FFFFFF"/>
              </a:buClr>
              <a:buSzPts val="1300"/>
              <a:buFont typeface="Public Sans"/>
              <a:buChar char="●"/>
            </a:pPr>
            <a:r>
              <a:rPr lang="en" sz="1300">
                <a:solidFill>
                  <a:srgbClr val="FFFFFF"/>
                </a:solidFill>
                <a:latin typeface="Public Sans"/>
                <a:ea typeface="Public Sans"/>
                <a:cs typeface="Public Sans"/>
                <a:sym typeface="Public Sans"/>
              </a:rPr>
              <a:t>Establishes the average duplicate MRNs per facility as a benchmark for comparison against the highest-volume facilities. </a:t>
            </a:r>
            <a:endParaRPr sz="1300">
              <a:solidFill>
                <a:srgbClr val="FFFFFF"/>
              </a:solidFill>
              <a:latin typeface="Public Sans"/>
              <a:ea typeface="Public Sans"/>
              <a:cs typeface="Public Sans"/>
              <a:sym typeface="Public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D56A3"/>
            </a:gs>
            <a:gs pos="100000">
              <a:srgbClr val="1B3D6E"/>
            </a:gs>
          </a:gsLst>
          <a:path path="circle">
            <a:fillToRect b="50%" l="50%" r="50%" t="50%"/>
          </a:path>
          <a:tileRect/>
        </a:gradFill>
      </p:bgPr>
    </p:bg>
    <p:spTree>
      <p:nvGrpSpPr>
        <p:cNvPr id="149" name="Shape 149"/>
        <p:cNvGrpSpPr/>
        <p:nvPr/>
      </p:nvGrpSpPr>
      <p:grpSpPr>
        <a:xfrm>
          <a:off x="0" y="0"/>
          <a:ext cx="0" cy="0"/>
          <a:chOff x="0" y="0"/>
          <a:chExt cx="0" cy="0"/>
        </a:xfrm>
      </p:grpSpPr>
      <p:sp>
        <p:nvSpPr>
          <p:cNvPr id="150" name="Google Shape;150;p19"/>
          <p:cNvSpPr txBox="1"/>
          <p:nvPr/>
        </p:nvSpPr>
        <p:spPr>
          <a:xfrm>
            <a:off x="2411250" y="4734338"/>
            <a:ext cx="4321500" cy="338700"/>
          </a:xfrm>
          <a:prstGeom prst="rect">
            <a:avLst/>
          </a:prstGeom>
          <a:no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FFFFFF"/>
                </a:solidFill>
                <a:latin typeface="Public Sans"/>
                <a:ea typeface="Public Sans"/>
                <a:cs typeface="Public Sans"/>
                <a:sym typeface="Public Sans"/>
              </a:rPr>
              <a:t>Duplicate MRN Analysis Project • Ethan Dobbs </a:t>
            </a:r>
            <a:r>
              <a:rPr lang="en" sz="1000">
                <a:solidFill>
                  <a:schemeClr val="lt1"/>
                </a:solidFill>
                <a:latin typeface="Public Sans"/>
                <a:ea typeface="Public Sans"/>
                <a:cs typeface="Public Sans"/>
                <a:sym typeface="Public Sans"/>
              </a:rPr>
              <a:t>• 2026</a:t>
            </a:r>
            <a:endParaRPr sz="1000">
              <a:solidFill>
                <a:srgbClr val="FFFFFF"/>
              </a:solidFill>
              <a:latin typeface="Public Sans"/>
              <a:ea typeface="Public Sans"/>
              <a:cs typeface="Public Sans"/>
              <a:sym typeface="Public Sans"/>
            </a:endParaRPr>
          </a:p>
        </p:txBody>
      </p:sp>
      <p:pic>
        <p:nvPicPr>
          <p:cNvPr id="151" name="Google Shape;151;p19"/>
          <p:cNvPicPr preferRelativeResize="0"/>
          <p:nvPr/>
        </p:nvPicPr>
        <p:blipFill>
          <a:blip r:embed="rId3">
            <a:alphaModFix/>
          </a:blip>
          <a:stretch>
            <a:fillRect/>
          </a:stretch>
        </p:blipFill>
        <p:spPr>
          <a:xfrm>
            <a:off x="2319350" y="475650"/>
            <a:ext cx="6705249" cy="3876475"/>
          </a:xfrm>
          <a:prstGeom prst="rect">
            <a:avLst/>
          </a:prstGeom>
          <a:noFill/>
          <a:ln>
            <a:noFill/>
          </a:ln>
        </p:spPr>
      </p:pic>
      <p:pic>
        <p:nvPicPr>
          <p:cNvPr id="152" name="Google Shape;152;p19"/>
          <p:cNvPicPr preferRelativeResize="0"/>
          <p:nvPr/>
        </p:nvPicPr>
        <p:blipFill>
          <a:blip r:embed="rId4">
            <a:alphaModFix/>
          </a:blip>
          <a:stretch>
            <a:fillRect/>
          </a:stretch>
        </p:blipFill>
        <p:spPr>
          <a:xfrm>
            <a:off x="2319350" y="475654"/>
            <a:ext cx="6705249" cy="3876472"/>
          </a:xfrm>
          <a:prstGeom prst="rect">
            <a:avLst/>
          </a:prstGeom>
          <a:noFill/>
          <a:ln>
            <a:noFill/>
          </a:ln>
        </p:spPr>
      </p:pic>
      <p:sp>
        <p:nvSpPr>
          <p:cNvPr id="153" name="Google Shape;153;p19"/>
          <p:cNvSpPr txBox="1"/>
          <p:nvPr/>
        </p:nvSpPr>
        <p:spPr>
          <a:xfrm>
            <a:off x="191950" y="475550"/>
            <a:ext cx="1955700" cy="3876600"/>
          </a:xfrm>
          <a:prstGeom prst="rect">
            <a:avLst/>
          </a:prstGeom>
          <a:noFill/>
          <a:ln>
            <a:noFill/>
          </a:ln>
          <a:effectLst>
            <a:outerShdw blurRad="57150" rotWithShape="0" algn="bl" dir="5400000" dist="19050">
              <a:srgbClr val="000000">
                <a:alpha val="50000"/>
              </a:srgbClr>
            </a:outerShdw>
          </a:effectLst>
        </p:spPr>
        <p:txBody>
          <a:bodyPr anchorCtr="0" anchor="ctr" bIns="91425" lIns="0" spcFirstLastPara="1" rIns="0" wrap="square" tIns="91425">
            <a:noAutofit/>
          </a:bodyPr>
          <a:lstStyle/>
          <a:p>
            <a:pPr indent="-128270" lvl="0" marL="274320" rtl="0" algn="l">
              <a:spcBef>
                <a:spcPts val="0"/>
              </a:spcBef>
              <a:spcAft>
                <a:spcPts val="0"/>
              </a:spcAft>
              <a:buClr>
                <a:srgbClr val="FFFFFF"/>
              </a:buClr>
              <a:buSzPts val="1300"/>
              <a:buFont typeface="Public Sans"/>
              <a:buChar char="●"/>
            </a:pPr>
            <a:r>
              <a:rPr lang="en" sz="1300">
                <a:solidFill>
                  <a:srgbClr val="FFFFFF"/>
                </a:solidFill>
                <a:latin typeface="Public Sans"/>
                <a:ea typeface="Public Sans"/>
                <a:cs typeface="Public Sans"/>
                <a:sym typeface="Public Sans"/>
              </a:rPr>
              <a:t>Provides a benchmark % resolved rate to gauge overall process performance.</a:t>
            </a:r>
            <a:endParaRPr sz="1300">
              <a:solidFill>
                <a:srgbClr val="FFFFFF"/>
              </a:solidFill>
              <a:latin typeface="Public Sans"/>
              <a:ea typeface="Public Sans"/>
              <a:cs typeface="Public Sans"/>
              <a:sym typeface="Public Sans"/>
            </a:endParaRPr>
          </a:p>
          <a:p>
            <a:pPr indent="-128270" lvl="0" marL="274320" rtl="0" algn="l">
              <a:spcBef>
                <a:spcPts val="0"/>
              </a:spcBef>
              <a:spcAft>
                <a:spcPts val="0"/>
              </a:spcAft>
              <a:buClr>
                <a:srgbClr val="FFFFFF"/>
              </a:buClr>
              <a:buSzPts val="1300"/>
              <a:buFont typeface="Public Sans"/>
              <a:buChar char="●"/>
            </a:pPr>
            <a:r>
              <a:rPr lang="en" sz="1300">
                <a:solidFill>
                  <a:srgbClr val="FFFFFF"/>
                </a:solidFill>
                <a:latin typeface="Public Sans"/>
                <a:ea typeface="Public Sans"/>
                <a:cs typeface="Public Sans"/>
                <a:sym typeface="Public Sans"/>
              </a:rPr>
              <a:t>Compares investigation time against resolution time by department to flag efficiency gaps  </a:t>
            </a:r>
            <a:endParaRPr sz="1300">
              <a:solidFill>
                <a:srgbClr val="FFFFFF"/>
              </a:solidFill>
              <a:latin typeface="Public Sans"/>
              <a:ea typeface="Public Sans"/>
              <a:cs typeface="Public Sans"/>
              <a:sym typeface="Public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D56A3"/>
            </a:gs>
            <a:gs pos="100000">
              <a:srgbClr val="1B3D6E"/>
            </a:gs>
          </a:gsLst>
          <a:path path="circle">
            <a:fillToRect b="50%" l="50%" r="50%" t="50%"/>
          </a:path>
          <a:tileRect/>
        </a:gradFill>
      </p:bgPr>
    </p:bg>
    <p:spTree>
      <p:nvGrpSpPr>
        <p:cNvPr id="157" name="Shape 157"/>
        <p:cNvGrpSpPr/>
        <p:nvPr/>
      </p:nvGrpSpPr>
      <p:grpSpPr>
        <a:xfrm>
          <a:off x="0" y="0"/>
          <a:ext cx="0" cy="0"/>
          <a:chOff x="0" y="0"/>
          <a:chExt cx="0" cy="0"/>
        </a:xfrm>
      </p:grpSpPr>
      <p:sp>
        <p:nvSpPr>
          <p:cNvPr id="158" name="Google Shape;158;p20"/>
          <p:cNvSpPr txBox="1"/>
          <p:nvPr/>
        </p:nvSpPr>
        <p:spPr>
          <a:xfrm>
            <a:off x="2101188" y="816425"/>
            <a:ext cx="4941600" cy="415500"/>
          </a:xfrm>
          <a:prstGeom prst="rect">
            <a:avLst/>
          </a:prstGeom>
          <a:no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 sz="1600" u="sng">
                <a:solidFill>
                  <a:srgbClr val="FFFFFF"/>
                </a:solidFill>
                <a:latin typeface="Public Sans"/>
                <a:ea typeface="Public Sans"/>
                <a:cs typeface="Public Sans"/>
                <a:sym typeface="Public Sans"/>
              </a:rPr>
              <a:t>Actionable Recommendations</a:t>
            </a:r>
            <a:endParaRPr sz="1600" u="sng">
              <a:solidFill>
                <a:srgbClr val="FFFFFF"/>
              </a:solidFill>
              <a:latin typeface="Public Sans"/>
              <a:ea typeface="Public Sans"/>
              <a:cs typeface="Public Sans"/>
              <a:sym typeface="Public Sans"/>
            </a:endParaRPr>
          </a:p>
        </p:txBody>
      </p:sp>
      <p:sp>
        <p:nvSpPr>
          <p:cNvPr id="159" name="Google Shape;159;p20"/>
          <p:cNvSpPr txBox="1"/>
          <p:nvPr/>
        </p:nvSpPr>
        <p:spPr>
          <a:xfrm>
            <a:off x="2411250" y="4734338"/>
            <a:ext cx="4321500" cy="338700"/>
          </a:xfrm>
          <a:prstGeom prst="rect">
            <a:avLst/>
          </a:prstGeom>
          <a:no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FFFFFF"/>
                </a:solidFill>
                <a:latin typeface="Public Sans"/>
                <a:ea typeface="Public Sans"/>
                <a:cs typeface="Public Sans"/>
                <a:sym typeface="Public Sans"/>
              </a:rPr>
              <a:t>Duplicate MRN Analysis Project • Ethan Dobbs </a:t>
            </a:r>
            <a:r>
              <a:rPr lang="en" sz="1000">
                <a:solidFill>
                  <a:schemeClr val="lt1"/>
                </a:solidFill>
                <a:latin typeface="Public Sans"/>
                <a:ea typeface="Public Sans"/>
                <a:cs typeface="Public Sans"/>
                <a:sym typeface="Public Sans"/>
              </a:rPr>
              <a:t>• 2026</a:t>
            </a:r>
            <a:endParaRPr sz="1000">
              <a:solidFill>
                <a:srgbClr val="FFFFFF"/>
              </a:solidFill>
              <a:latin typeface="Public Sans"/>
              <a:ea typeface="Public Sans"/>
              <a:cs typeface="Public Sans"/>
              <a:sym typeface="Public Sans"/>
            </a:endParaRPr>
          </a:p>
        </p:txBody>
      </p:sp>
      <p:grpSp>
        <p:nvGrpSpPr>
          <p:cNvPr id="160" name="Google Shape;160;p20"/>
          <p:cNvGrpSpPr/>
          <p:nvPr/>
        </p:nvGrpSpPr>
        <p:grpSpPr>
          <a:xfrm>
            <a:off x="1661375" y="1341004"/>
            <a:ext cx="1942800" cy="1678687"/>
            <a:chOff x="1660800" y="1171213"/>
            <a:chExt cx="1942800" cy="1569600"/>
          </a:xfrm>
        </p:grpSpPr>
        <p:sp>
          <p:nvSpPr>
            <p:cNvPr id="161" name="Google Shape;161;p20"/>
            <p:cNvSpPr/>
            <p:nvPr/>
          </p:nvSpPr>
          <p:spPr>
            <a:xfrm>
              <a:off x="1660800" y="1171213"/>
              <a:ext cx="1942800" cy="1569600"/>
            </a:xfrm>
            <a:prstGeom prst="round1Rect">
              <a:avLst>
                <a:gd fmla="val 17446" name="adj"/>
              </a:avLst>
            </a:prstGeom>
            <a:solidFill>
              <a:srgbClr val="35978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20"/>
            <p:cNvSpPr txBox="1"/>
            <p:nvPr/>
          </p:nvSpPr>
          <p:spPr>
            <a:xfrm>
              <a:off x="1879865" y="1237873"/>
              <a:ext cx="1451700" cy="459900"/>
            </a:xfrm>
            <a:prstGeom prst="rect">
              <a:avLst/>
            </a:prstGeom>
            <a:solidFill>
              <a:srgbClr val="35978E"/>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FFFFFF"/>
                  </a:solidFill>
                  <a:latin typeface="Roboto"/>
                  <a:ea typeface="Roboto"/>
                  <a:cs typeface="Roboto"/>
                  <a:sym typeface="Roboto"/>
                </a:rPr>
                <a:t>Prioritize High-Volume Facilities</a:t>
              </a:r>
              <a:endParaRPr sz="1100">
                <a:solidFill>
                  <a:srgbClr val="FFFFFF"/>
                </a:solidFill>
                <a:latin typeface="Roboto"/>
                <a:ea typeface="Roboto"/>
                <a:cs typeface="Roboto"/>
                <a:sym typeface="Roboto"/>
              </a:endParaRPr>
            </a:p>
          </p:txBody>
        </p:sp>
        <p:sp>
          <p:nvSpPr>
            <p:cNvPr id="163" name="Google Shape;163;p20"/>
            <p:cNvSpPr txBox="1"/>
            <p:nvPr/>
          </p:nvSpPr>
          <p:spPr>
            <a:xfrm>
              <a:off x="1879875" y="1830775"/>
              <a:ext cx="1451700" cy="893100"/>
            </a:xfrm>
            <a:prstGeom prst="rect">
              <a:avLst/>
            </a:prstGeom>
            <a:solidFill>
              <a:srgbClr val="35978E"/>
            </a:solid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n" sz="900">
                  <a:solidFill>
                    <a:srgbClr val="FFFFFF"/>
                  </a:solidFill>
                  <a:latin typeface="Roboto"/>
                  <a:ea typeface="Roboto"/>
                  <a:cs typeface="Roboto"/>
                  <a:sym typeface="Roboto"/>
                </a:rPr>
                <a:t>Focus process improvements on outliers like Montefiore Medical Center </a:t>
              </a:r>
              <a:endParaRPr sz="900">
                <a:solidFill>
                  <a:srgbClr val="FFFFFF"/>
                </a:solidFill>
                <a:latin typeface="Roboto"/>
                <a:ea typeface="Roboto"/>
                <a:cs typeface="Roboto"/>
                <a:sym typeface="Roboto"/>
              </a:endParaRPr>
            </a:p>
          </p:txBody>
        </p:sp>
      </p:grpSp>
      <p:grpSp>
        <p:nvGrpSpPr>
          <p:cNvPr id="164" name="Google Shape;164;p20"/>
          <p:cNvGrpSpPr/>
          <p:nvPr/>
        </p:nvGrpSpPr>
        <p:grpSpPr>
          <a:xfrm>
            <a:off x="3601175" y="1341041"/>
            <a:ext cx="1942800" cy="1678687"/>
            <a:chOff x="3600600" y="1170963"/>
            <a:chExt cx="1942800" cy="1569600"/>
          </a:xfrm>
        </p:grpSpPr>
        <p:sp>
          <p:nvSpPr>
            <p:cNvPr id="165" name="Google Shape;165;p20"/>
            <p:cNvSpPr/>
            <p:nvPr/>
          </p:nvSpPr>
          <p:spPr>
            <a:xfrm>
              <a:off x="3600600" y="1170963"/>
              <a:ext cx="1942800" cy="1569600"/>
            </a:xfrm>
            <a:prstGeom prst="round2SameRect">
              <a:avLst>
                <a:gd fmla="val 18098" name="adj1"/>
                <a:gd fmla="val 0" name="adj2"/>
              </a:avLst>
            </a:prstGeom>
            <a:solidFill>
              <a:srgbClr val="1D7E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20"/>
            <p:cNvSpPr txBox="1"/>
            <p:nvPr/>
          </p:nvSpPr>
          <p:spPr>
            <a:xfrm>
              <a:off x="3792558" y="1237748"/>
              <a:ext cx="1451700" cy="459900"/>
            </a:xfrm>
            <a:prstGeom prst="rect">
              <a:avLst/>
            </a:prstGeom>
            <a:solidFill>
              <a:srgbClr val="1D7E75"/>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FFFFFF"/>
                  </a:solidFill>
                  <a:latin typeface="Roboto"/>
                  <a:ea typeface="Roboto"/>
                  <a:cs typeface="Roboto"/>
                  <a:sym typeface="Roboto"/>
                </a:rPr>
                <a:t>Invest in automated patient-matching software</a:t>
              </a:r>
              <a:endParaRPr sz="1100">
                <a:solidFill>
                  <a:srgbClr val="FFFFFF"/>
                </a:solidFill>
                <a:latin typeface="Roboto"/>
                <a:ea typeface="Roboto"/>
                <a:cs typeface="Roboto"/>
                <a:sym typeface="Roboto"/>
              </a:endParaRPr>
            </a:p>
          </p:txBody>
        </p:sp>
        <p:sp>
          <p:nvSpPr>
            <p:cNvPr id="167" name="Google Shape;167;p20"/>
            <p:cNvSpPr txBox="1"/>
            <p:nvPr/>
          </p:nvSpPr>
          <p:spPr>
            <a:xfrm>
              <a:off x="3819008" y="1815314"/>
              <a:ext cx="1451700" cy="512400"/>
            </a:xfrm>
            <a:prstGeom prst="rect">
              <a:avLst/>
            </a:prstGeom>
            <a:solidFill>
              <a:srgbClr val="1D7E75"/>
            </a:solidFill>
            <a:ln>
              <a:noFill/>
            </a:ln>
          </p:spPr>
          <p:txBody>
            <a:bodyPr anchorCtr="0" anchor="t" bIns="0" lIns="0" spcFirstLastPara="1" rIns="0" wrap="square" tIns="91425">
              <a:noAutofit/>
            </a:bodyPr>
            <a:lstStyle/>
            <a:p>
              <a:pPr indent="0" lvl="0" marL="0" rtl="0" algn="l">
                <a:lnSpc>
                  <a:spcPct val="115000"/>
                </a:lnSpc>
                <a:spcBef>
                  <a:spcPts val="0"/>
                </a:spcBef>
                <a:spcAft>
                  <a:spcPts val="1600"/>
                </a:spcAft>
                <a:buNone/>
              </a:pPr>
              <a:r>
                <a:rPr lang="en" sz="900">
                  <a:solidFill>
                    <a:srgbClr val="FFFFFF"/>
                  </a:solidFill>
                  <a:latin typeface="Roboto"/>
                  <a:ea typeface="Roboto"/>
                  <a:cs typeface="Roboto"/>
                  <a:sym typeface="Roboto"/>
                </a:rPr>
                <a:t>Flag likely duplicate patients in Ambulatory and Ancillary before a new MRN is even created </a:t>
              </a:r>
              <a:endParaRPr sz="900">
                <a:solidFill>
                  <a:srgbClr val="FFFFFF"/>
                </a:solidFill>
                <a:latin typeface="Roboto"/>
                <a:ea typeface="Roboto"/>
                <a:cs typeface="Roboto"/>
                <a:sym typeface="Roboto"/>
              </a:endParaRPr>
            </a:p>
          </p:txBody>
        </p:sp>
      </p:grpSp>
      <p:grpSp>
        <p:nvGrpSpPr>
          <p:cNvPr id="168" name="Google Shape;168;p20"/>
          <p:cNvGrpSpPr/>
          <p:nvPr/>
        </p:nvGrpSpPr>
        <p:grpSpPr>
          <a:xfrm>
            <a:off x="5540400" y="1358000"/>
            <a:ext cx="1942800" cy="1661559"/>
            <a:chOff x="5539807" y="1171223"/>
            <a:chExt cx="1942800" cy="1679700"/>
          </a:xfrm>
        </p:grpSpPr>
        <p:sp>
          <p:nvSpPr>
            <p:cNvPr id="169" name="Google Shape;169;p20"/>
            <p:cNvSpPr/>
            <p:nvPr/>
          </p:nvSpPr>
          <p:spPr>
            <a:xfrm flipH="1">
              <a:off x="5539807" y="1171223"/>
              <a:ext cx="1942800" cy="1679700"/>
            </a:xfrm>
            <a:prstGeom prst="round1Rect">
              <a:avLst>
                <a:gd fmla="val 17446" name="adj"/>
              </a:avLst>
            </a:prstGeom>
            <a:solidFill>
              <a:srgbClr val="116E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20"/>
            <p:cNvSpPr txBox="1"/>
            <p:nvPr/>
          </p:nvSpPr>
          <p:spPr>
            <a:xfrm>
              <a:off x="5762407" y="1228694"/>
              <a:ext cx="1543500" cy="688500"/>
            </a:xfrm>
            <a:prstGeom prst="rect">
              <a:avLst/>
            </a:prstGeom>
            <a:solidFill>
              <a:srgbClr val="116E65"/>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FFFFFF"/>
                  </a:solidFill>
                  <a:latin typeface="Roboto"/>
                  <a:ea typeface="Roboto"/>
                  <a:cs typeface="Roboto"/>
                  <a:sym typeface="Roboto"/>
                </a:rPr>
                <a:t>Set department-level resolution targets </a:t>
              </a:r>
              <a:endParaRPr sz="1100">
                <a:solidFill>
                  <a:srgbClr val="FFFFFF"/>
                </a:solidFill>
                <a:latin typeface="Roboto"/>
                <a:ea typeface="Roboto"/>
                <a:cs typeface="Roboto"/>
                <a:sym typeface="Roboto"/>
              </a:endParaRPr>
            </a:p>
          </p:txBody>
        </p:sp>
        <p:sp>
          <p:nvSpPr>
            <p:cNvPr id="171" name="Google Shape;171;p20"/>
            <p:cNvSpPr txBox="1"/>
            <p:nvPr/>
          </p:nvSpPr>
          <p:spPr>
            <a:xfrm>
              <a:off x="5762407" y="1885837"/>
              <a:ext cx="1451700" cy="880800"/>
            </a:xfrm>
            <a:prstGeom prst="rect">
              <a:avLst/>
            </a:prstGeom>
            <a:solidFill>
              <a:srgbClr val="116E65"/>
            </a:solidFill>
            <a:ln>
              <a:noFill/>
            </a:ln>
          </p:spPr>
          <p:txBody>
            <a:bodyPr anchorCtr="0" anchor="t" bIns="0" lIns="0" spcFirstLastPara="1" rIns="0" wrap="square" tIns="0">
              <a:noAutofit/>
            </a:bodyPr>
            <a:lstStyle/>
            <a:p>
              <a:pPr indent="0" lvl="0" marL="0" rtl="0" algn="l">
                <a:lnSpc>
                  <a:spcPct val="115000"/>
                </a:lnSpc>
                <a:spcBef>
                  <a:spcPts val="0"/>
                </a:spcBef>
                <a:spcAft>
                  <a:spcPts val="1600"/>
                </a:spcAft>
                <a:buNone/>
              </a:pPr>
              <a:r>
                <a:rPr lang="en" sz="900">
                  <a:solidFill>
                    <a:srgbClr val="FFFFFF"/>
                  </a:solidFill>
                  <a:latin typeface="Roboto"/>
                  <a:ea typeface="Roboto"/>
                  <a:cs typeface="Roboto"/>
                  <a:sym typeface="Roboto"/>
                </a:rPr>
                <a:t>Establish time-to-resolve benchmarks for slower departments and reallocate staff or tools to close the gap </a:t>
              </a:r>
              <a:endParaRPr sz="900">
                <a:solidFill>
                  <a:srgbClr val="FFFFFF"/>
                </a:solidFill>
                <a:latin typeface="Roboto"/>
                <a:ea typeface="Roboto"/>
                <a:cs typeface="Roboto"/>
                <a:sym typeface="Roboto"/>
              </a:endParaRPr>
            </a:p>
          </p:txBody>
        </p:sp>
      </p:grpSp>
      <p:grpSp>
        <p:nvGrpSpPr>
          <p:cNvPr id="172" name="Google Shape;172;p20"/>
          <p:cNvGrpSpPr/>
          <p:nvPr/>
        </p:nvGrpSpPr>
        <p:grpSpPr>
          <a:xfrm>
            <a:off x="1660800" y="3019809"/>
            <a:ext cx="5822400" cy="1122616"/>
            <a:chOff x="1660800" y="2723938"/>
            <a:chExt cx="5822400" cy="1248600"/>
          </a:xfrm>
        </p:grpSpPr>
        <p:sp>
          <p:nvSpPr>
            <p:cNvPr id="173" name="Google Shape;173;p20"/>
            <p:cNvSpPr/>
            <p:nvPr/>
          </p:nvSpPr>
          <p:spPr>
            <a:xfrm rot="10800000">
              <a:off x="1660800" y="2723938"/>
              <a:ext cx="5822400" cy="1248600"/>
            </a:xfrm>
            <a:prstGeom prst="round2SameRect">
              <a:avLst>
                <a:gd fmla="val 18098" name="adj1"/>
                <a:gd fmla="val 0" name="adj2"/>
              </a:avLst>
            </a:prstGeom>
            <a:solidFill>
              <a:srgbClr val="0B51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20"/>
            <p:cNvSpPr txBox="1"/>
            <p:nvPr/>
          </p:nvSpPr>
          <p:spPr>
            <a:xfrm>
              <a:off x="2583300" y="2788388"/>
              <a:ext cx="3977400" cy="349500"/>
            </a:xfrm>
            <a:prstGeom prst="rect">
              <a:avLst/>
            </a:prstGeom>
            <a:solidFill>
              <a:srgbClr val="0B514A"/>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100">
                  <a:solidFill>
                    <a:srgbClr val="FFFFFF"/>
                  </a:solidFill>
                  <a:latin typeface="Roboto"/>
                  <a:ea typeface="Roboto"/>
                  <a:cs typeface="Roboto"/>
                  <a:sym typeface="Roboto"/>
                </a:rPr>
                <a:t>Improve Input Validation</a:t>
              </a:r>
              <a:endParaRPr sz="1100">
                <a:solidFill>
                  <a:srgbClr val="FFFFFF"/>
                </a:solidFill>
                <a:latin typeface="Roboto"/>
                <a:ea typeface="Roboto"/>
                <a:cs typeface="Roboto"/>
                <a:sym typeface="Roboto"/>
              </a:endParaRPr>
            </a:p>
          </p:txBody>
        </p:sp>
        <p:sp>
          <p:nvSpPr>
            <p:cNvPr id="175" name="Google Shape;175;p20"/>
            <p:cNvSpPr txBox="1"/>
            <p:nvPr/>
          </p:nvSpPr>
          <p:spPr>
            <a:xfrm>
              <a:off x="2583291" y="3185450"/>
              <a:ext cx="3977400" cy="603300"/>
            </a:xfrm>
            <a:prstGeom prst="rect">
              <a:avLst/>
            </a:prstGeom>
            <a:solidFill>
              <a:srgbClr val="0B514A"/>
            </a:solid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lang="en" sz="800">
                  <a:solidFill>
                    <a:srgbClr val="FFFFFF"/>
                  </a:solidFill>
                  <a:latin typeface="Roboto"/>
                  <a:ea typeface="Roboto"/>
                  <a:cs typeface="Roboto"/>
                  <a:sym typeface="Roboto"/>
                </a:rPr>
                <a:t>Implement stricter data entry controls and real-time duplicate-checking at registration to catch inconsistencies (name variations, DOB mismatches, address changes) before they generate a new MRN</a:t>
              </a:r>
              <a:endParaRPr sz="800">
                <a:solidFill>
                  <a:srgbClr val="FFFFFF"/>
                </a:solidFill>
                <a:latin typeface="Roboto"/>
                <a:ea typeface="Roboto"/>
                <a:cs typeface="Roboto"/>
                <a:sym typeface="Roboto"/>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D56A3"/>
            </a:gs>
            <a:gs pos="100000">
              <a:srgbClr val="1B3D6E"/>
            </a:gs>
          </a:gsLst>
          <a:path path="circle">
            <a:fillToRect b="50%" l="50%" r="50%" t="50%"/>
          </a:path>
          <a:tileRect/>
        </a:gradFill>
      </p:bgPr>
    </p:bg>
    <p:spTree>
      <p:nvGrpSpPr>
        <p:cNvPr id="179" name="Shape 179"/>
        <p:cNvGrpSpPr/>
        <p:nvPr/>
      </p:nvGrpSpPr>
      <p:grpSpPr>
        <a:xfrm>
          <a:off x="0" y="0"/>
          <a:ext cx="0" cy="0"/>
          <a:chOff x="0" y="0"/>
          <a:chExt cx="0" cy="0"/>
        </a:xfrm>
      </p:grpSpPr>
      <p:sp>
        <p:nvSpPr>
          <p:cNvPr id="180" name="Google Shape;180;p21"/>
          <p:cNvSpPr txBox="1"/>
          <p:nvPr/>
        </p:nvSpPr>
        <p:spPr>
          <a:xfrm>
            <a:off x="564000" y="1715125"/>
            <a:ext cx="8016000" cy="710400"/>
          </a:xfrm>
          <a:prstGeom prst="rect">
            <a:avLst/>
          </a:prstGeom>
          <a:no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en" sz="3500">
                <a:solidFill>
                  <a:srgbClr val="FFFFFF"/>
                </a:solidFill>
                <a:latin typeface="Archivo Black"/>
                <a:ea typeface="Archivo Black"/>
                <a:cs typeface="Archivo Black"/>
                <a:sym typeface="Archivo Black"/>
              </a:rPr>
              <a:t>Questions / Thank You</a:t>
            </a:r>
            <a:endParaRPr b="1" sz="3500">
              <a:solidFill>
                <a:srgbClr val="FFFFFF"/>
              </a:solidFill>
              <a:latin typeface="Archivo Black"/>
              <a:ea typeface="Archivo Black"/>
              <a:cs typeface="Archivo Black"/>
              <a:sym typeface="Archivo Black"/>
            </a:endParaRPr>
          </a:p>
        </p:txBody>
      </p:sp>
      <p:sp>
        <p:nvSpPr>
          <p:cNvPr id="181" name="Google Shape;181;p21"/>
          <p:cNvSpPr txBox="1"/>
          <p:nvPr/>
        </p:nvSpPr>
        <p:spPr>
          <a:xfrm>
            <a:off x="2091600" y="2627425"/>
            <a:ext cx="4960800" cy="415500"/>
          </a:xfrm>
          <a:prstGeom prst="rect">
            <a:avLst/>
          </a:prstGeom>
          <a:no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500">
                <a:solidFill>
                  <a:schemeClr val="lt1"/>
                </a:solidFill>
                <a:latin typeface="Public Sans"/>
                <a:ea typeface="Public Sans"/>
                <a:cs typeface="Public Sans"/>
                <a:sym typeface="Public Sans"/>
              </a:rPr>
              <a:t>Duplicate MRN Analysis Project • Ethan Dobbs • 2026</a:t>
            </a:r>
            <a:endParaRPr sz="2000">
              <a:solidFill>
                <a:srgbClr val="FFFFFF"/>
              </a:solidFill>
              <a:latin typeface="Public Sans"/>
              <a:ea typeface="Public Sans"/>
              <a:cs typeface="Public Sans"/>
              <a:sym typeface="Public Sans"/>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